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739" r:id="rId2"/>
    <p:sldId id="741" r:id="rId3"/>
    <p:sldId id="754" r:id="rId4"/>
    <p:sldId id="759" r:id="rId5"/>
    <p:sldId id="756" r:id="rId6"/>
    <p:sldId id="752" r:id="rId7"/>
    <p:sldId id="769" r:id="rId8"/>
    <p:sldId id="768" r:id="rId9"/>
    <p:sldId id="760" r:id="rId10"/>
    <p:sldId id="770" r:id="rId11"/>
    <p:sldId id="761" r:id="rId12"/>
    <p:sldId id="762" r:id="rId13"/>
    <p:sldId id="763" r:id="rId14"/>
    <p:sldId id="764" r:id="rId15"/>
    <p:sldId id="765" r:id="rId16"/>
    <p:sldId id="766" r:id="rId17"/>
    <p:sldId id="767" r:id="rId18"/>
    <p:sldId id="736" r:id="rId19"/>
    <p:sldId id="737" r:id="rId20"/>
    <p:sldId id="738" r:id="rId21"/>
    <p:sldId id="740" r:id="rId22"/>
  </p:sldIdLst>
  <p:sldSz cx="12192000" cy="6858000"/>
  <p:notesSz cx="6807200" cy="99393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D9"/>
    <a:srgbClr val="FFFAE6"/>
    <a:srgbClr val="D1E7C3"/>
    <a:srgbClr val="FF8F8F"/>
    <a:srgbClr val="EBA8A3"/>
    <a:srgbClr val="CBA9E5"/>
    <a:srgbClr val="FBE5D6"/>
    <a:srgbClr val="E2F0D9"/>
    <a:srgbClr val="FFC000"/>
    <a:srgbClr val="F9D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4343" autoAdjust="0"/>
  </p:normalViewPr>
  <p:slideViewPr>
    <p:cSldViewPr snapToGrid="0">
      <p:cViewPr varScale="1">
        <p:scale>
          <a:sx n="114" d="100"/>
          <a:sy n="114" d="100"/>
        </p:scale>
        <p:origin x="4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456193661811153"/>
          <c:y val="0.13189656971008401"/>
          <c:w val="0.30458536614088039"/>
          <c:h val="0.77090517648204282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801-41B5-A29D-89781DB670ED}"/>
              </c:ext>
            </c:extLst>
          </c:dPt>
          <c:dPt>
            <c:idx val="1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801-41B5-A29D-89781DB670E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801-41B5-A29D-89781DB670ED}"/>
              </c:ext>
            </c:extLst>
          </c:dPt>
          <c:dPt>
            <c:idx val="3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801-41B5-A29D-89781DB670ED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801-41B5-A29D-89781DB670ED}"/>
              </c:ext>
            </c:extLst>
          </c:dPt>
          <c:dPt>
            <c:idx val="5"/>
            <c:bubble3D val="0"/>
            <c:spPr>
              <a:solidFill>
                <a:srgbClr val="FF8F8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801-41B5-A29D-89781DB670ED}"/>
              </c:ext>
            </c:extLst>
          </c:dPt>
          <c:dPt>
            <c:idx val="6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801-41B5-A29D-89781DB670ED}"/>
              </c:ext>
            </c:extLst>
          </c:dPt>
          <c:dLbls>
            <c:dLbl>
              <c:idx val="0"/>
              <c:layout>
                <c:manualLayout>
                  <c:x val="-0.1458174989830851"/>
                  <c:y val="9.9599417237452331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01-41B5-A29D-89781DB670ED}"/>
                </c:ext>
              </c:extLst>
            </c:dLbl>
            <c:dLbl>
              <c:idx val="1"/>
              <c:layout>
                <c:manualLayout>
                  <c:x val="7.9763418247157575E-2"/>
                  <c:y val="-0.1501443569162660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01-41B5-A29D-89781DB670ED}"/>
                </c:ext>
              </c:extLst>
            </c:dLbl>
            <c:dLbl>
              <c:idx val="2"/>
              <c:layout>
                <c:manualLayout>
                  <c:x val="0.19193072515722315"/>
                  <c:y val="-0.34874656927954217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801-41B5-A29D-89781DB670ED}"/>
                </c:ext>
              </c:extLst>
            </c:dLbl>
            <c:dLbl>
              <c:idx val="3"/>
              <c:layout>
                <c:manualLayout>
                  <c:x val="0.25062975122508191"/>
                  <c:y val="-0.18417851178252476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801-41B5-A29D-89781DB670ED}"/>
                </c:ext>
              </c:extLst>
            </c:dLbl>
            <c:dLbl>
              <c:idx val="4"/>
              <c:layout>
                <c:manualLayout>
                  <c:x val="0.25798480589315048"/>
                  <c:y val="9.2188220220470476E-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801-41B5-A29D-89781DB670ED}"/>
                </c:ext>
              </c:extLst>
            </c:dLbl>
            <c:dLbl>
              <c:idx val="5"/>
              <c:layout>
                <c:manualLayout>
                  <c:x val="0.23181243428080206"/>
                  <c:y val="0.19997954529474307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801-41B5-A29D-89781DB670ED}"/>
                </c:ext>
              </c:extLst>
            </c:dLbl>
            <c:dLbl>
              <c:idx val="6"/>
              <c:layout>
                <c:manualLayout>
                  <c:x val="5.3591046634809056E-2"/>
                  <c:y val="0.23305714700605476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801-41B5-A29D-89781DB670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Лист1!$A$2:$A$8</c:f>
              <c:strCache>
                <c:ptCount val="7"/>
                <c:pt idx="0">
                  <c:v>Минстрой</c:v>
                </c:pt>
                <c:pt idx="1">
                  <c:v>Минтранс</c:v>
                </c:pt>
                <c:pt idx="2">
                  <c:v>Минздрав </c:v>
                </c:pt>
                <c:pt idx="3">
                  <c:v>Минобразования</c:v>
                </c:pt>
                <c:pt idx="4">
                  <c:v>Минсоцзащиты</c:v>
                </c:pt>
                <c:pt idx="5">
                  <c:v>Минсельхоз</c:v>
                </c:pt>
                <c:pt idx="6">
                  <c:v>Минэнерго</c:v>
                </c:pt>
              </c:strCache>
            </c:strRef>
          </c:cat>
          <c:val>
            <c:numRef>
              <c:f>Лист1!$B$2:$B$8</c:f>
              <c:numCache>
                <c:formatCode>_-* #\ ##0\ _₽_-;\-* #\ ##0\ _₽_-;_-* "-"??\ _₽_-;_-@_-</c:formatCode>
                <c:ptCount val="7"/>
                <c:pt idx="0">
                  <c:v>4415</c:v>
                </c:pt>
                <c:pt idx="1">
                  <c:v>2269</c:v>
                </c:pt>
                <c:pt idx="2">
                  <c:v>477</c:v>
                </c:pt>
                <c:pt idx="3">
                  <c:v>163</c:v>
                </c:pt>
                <c:pt idx="4">
                  <c:v>83</c:v>
                </c:pt>
                <c:pt idx="5">
                  <c:v>79</c:v>
                </c:pt>
                <c:pt idx="6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801-41B5-A29D-89781DB670ED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126"/>
        <c:holeSize val="6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0.42302</cdr:x>
      <cdr:y>0.35221</cdr:y>
    </cdr:from>
    <cdr:to>
      <cdr:x>0.59336</cdr:x>
      <cdr:y>0.64779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310622" y="1487739"/>
          <a:ext cx="1735811" cy="124848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>
            <a:spcAft>
              <a:spcPts val="600"/>
            </a:spcAft>
          </a:pPr>
          <a:r>
            <a:rPr lang="ru-RU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Риски</a:t>
          </a:r>
        </a:p>
        <a:p xmlns:a="http://schemas.openxmlformats.org/drawingml/2006/main">
          <a:pPr algn="ctr"/>
          <a:r>
            <a:rPr lang="ru-RU" sz="2600" b="1" dirty="0">
              <a:latin typeface="Times New Roman" panose="02020603050405020304" pitchFamily="18" charset="0"/>
              <a:cs typeface="Times New Roman" panose="02020603050405020304" pitchFamily="18" charset="0"/>
            </a:rPr>
            <a:t>7 501</a:t>
          </a:r>
        </a:p>
        <a:p xmlns:a="http://schemas.openxmlformats.org/drawingml/2006/main">
          <a:pPr algn="ctr"/>
          <a:r>
            <a:rPr lang="ru-RU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млн руб.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2" y="16"/>
            <a:ext cx="2949084" cy="498644"/>
          </a:xfrm>
          <a:prstGeom prst="rect">
            <a:avLst/>
          </a:prstGeom>
        </p:spPr>
        <p:txBody>
          <a:bodyPr vert="horz" lIns="92241" tIns="46134" rIns="92241" bIns="46134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6498" y="16"/>
            <a:ext cx="2949084" cy="498644"/>
          </a:xfrm>
          <a:prstGeom prst="rect">
            <a:avLst/>
          </a:prstGeom>
        </p:spPr>
        <p:txBody>
          <a:bodyPr vert="horz" lIns="92241" tIns="46134" rIns="92241" bIns="46134" rtlCol="0"/>
          <a:lstStyle>
            <a:lvl1pPr algn="r">
              <a:defRPr sz="1200"/>
            </a:lvl1pPr>
          </a:lstStyle>
          <a:p>
            <a:fld id="{5EC7D8E7-C247-4E32-9CA8-63AA6AFAB3F7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2" y="9440709"/>
            <a:ext cx="2949084" cy="498644"/>
          </a:xfrm>
          <a:prstGeom prst="rect">
            <a:avLst/>
          </a:prstGeom>
        </p:spPr>
        <p:txBody>
          <a:bodyPr vert="horz" lIns="92241" tIns="46134" rIns="92241" bIns="46134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6498" y="9440709"/>
            <a:ext cx="2949084" cy="498644"/>
          </a:xfrm>
          <a:prstGeom prst="rect">
            <a:avLst/>
          </a:prstGeom>
        </p:spPr>
        <p:txBody>
          <a:bodyPr vert="horz" lIns="92241" tIns="46134" rIns="92241" bIns="46134" rtlCol="0" anchor="b"/>
          <a:lstStyle>
            <a:lvl1pPr algn="r">
              <a:defRPr sz="1200"/>
            </a:lvl1pPr>
          </a:lstStyle>
          <a:p>
            <a:fld id="{C60B5CA8-FE05-4434-A44C-7895F025F9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32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3" y="22"/>
            <a:ext cx="2949786" cy="498694"/>
          </a:xfrm>
          <a:prstGeom prst="rect">
            <a:avLst/>
          </a:prstGeom>
        </p:spPr>
        <p:txBody>
          <a:bodyPr vert="horz" lIns="92695" tIns="46367" rIns="92695" bIns="46367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5852" y="22"/>
            <a:ext cx="2949786" cy="498694"/>
          </a:xfrm>
          <a:prstGeom prst="rect">
            <a:avLst/>
          </a:prstGeom>
        </p:spPr>
        <p:txBody>
          <a:bodyPr vert="horz" lIns="92695" tIns="46367" rIns="92695" bIns="46367" rtlCol="0"/>
          <a:lstStyle>
            <a:lvl1pPr algn="r">
              <a:defRPr sz="1200"/>
            </a:lvl1pPr>
          </a:lstStyle>
          <a:p>
            <a:fld id="{C6F2B79F-53E5-433F-B27D-0A3BAF464666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95" tIns="46367" rIns="92695" bIns="46367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0721" y="4783329"/>
            <a:ext cx="5445760" cy="3913614"/>
          </a:xfrm>
          <a:prstGeom prst="rect">
            <a:avLst/>
          </a:prstGeom>
        </p:spPr>
        <p:txBody>
          <a:bodyPr vert="horz" lIns="92695" tIns="46367" rIns="92695" bIns="46367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3" y="9440663"/>
            <a:ext cx="2949786" cy="498693"/>
          </a:xfrm>
          <a:prstGeom prst="rect">
            <a:avLst/>
          </a:prstGeom>
        </p:spPr>
        <p:txBody>
          <a:bodyPr vert="horz" lIns="92695" tIns="46367" rIns="92695" bIns="46367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5852" y="9440663"/>
            <a:ext cx="2949786" cy="498693"/>
          </a:xfrm>
          <a:prstGeom prst="rect">
            <a:avLst/>
          </a:prstGeom>
        </p:spPr>
        <p:txBody>
          <a:bodyPr vert="horz" lIns="92695" tIns="46367" rIns="92695" bIns="46367" rtlCol="0" anchor="b"/>
          <a:lstStyle>
            <a:lvl1pPr algn="r">
              <a:defRPr sz="1200"/>
            </a:lvl1pPr>
          </a:lstStyle>
          <a:p>
            <a:fld id="{BDD258CD-F44C-4DDB-A131-FADFB8BA9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583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08743" indent="-27258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0365" indent="-21807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6515" indent="-21807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62655" indent="-21807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98798" indent="-21807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34953" indent="-21807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71097" indent="-21807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07239" indent="-21807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2815DB9-7885-467F-BA74-9250BF5D5BCF}" type="slidenum">
              <a:rPr lang="ru-RU" altLang="ru-RU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ru-RU" altLang="ru-RU" dirty="0">
              <a:ea typeface="ＭＳ Ｐゴシック" panose="020B0600070205080204" pitchFamily="34" charset="-128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466975" y="547688"/>
            <a:ext cx="4873625" cy="27416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ru-RU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3679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493713" y="858838"/>
            <a:ext cx="7651751" cy="4303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750699-85EC-4D72-8456-7B85FEB7B1B6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370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086">
              <a:defRPr/>
            </a:pPr>
            <a:fld id="{74A8CDDC-FAC2-4836-B36C-96CE764B8F6B}" type="slidenum">
              <a:rPr lang="ru-RU">
                <a:solidFill>
                  <a:prstClr val="black"/>
                </a:solidFill>
                <a:latin typeface="Calibri" panose="020F0502020204030204"/>
              </a:rPr>
              <a:pPr defTabSz="914086">
                <a:defRPr/>
              </a:pPr>
              <a:t>3</a:t>
            </a:fld>
            <a:endParaRPr lang="ru-RU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6962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086">
              <a:defRPr/>
            </a:pPr>
            <a:fld id="{74A8CDDC-FAC2-4836-B36C-96CE764B8F6B}" type="slidenum">
              <a:rPr lang="ru-RU">
                <a:solidFill>
                  <a:prstClr val="black"/>
                </a:solidFill>
                <a:latin typeface="Calibri" panose="020F0502020204030204"/>
              </a:rPr>
              <a:pPr defTabSz="914086">
                <a:defRPr/>
              </a:pPr>
              <a:t>4</a:t>
            </a:fld>
            <a:endParaRPr lang="ru-RU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99685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086">
              <a:defRPr/>
            </a:pPr>
            <a:fld id="{74A8CDDC-FAC2-4836-B36C-96CE764B8F6B}" type="slidenum">
              <a:rPr lang="ru-RU">
                <a:solidFill>
                  <a:prstClr val="black"/>
                </a:solidFill>
                <a:latin typeface="Calibri" panose="020F0502020204030204"/>
              </a:rPr>
              <a:pPr defTabSz="914086">
                <a:defRPr/>
              </a:pPr>
              <a:t>5</a:t>
            </a:fld>
            <a:endParaRPr lang="ru-RU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76286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493713" y="858838"/>
            <a:ext cx="7651751" cy="4303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750699-85EC-4D72-8456-7B85FEB7B1B6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473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086">
              <a:defRPr/>
            </a:pPr>
            <a:fld id="{74A8CDDC-FAC2-4836-B36C-96CE764B8F6B}" type="slidenum">
              <a:rPr lang="ru-RU">
                <a:solidFill>
                  <a:prstClr val="black"/>
                </a:solidFill>
                <a:latin typeface="Calibri" panose="020F0502020204030204"/>
              </a:rPr>
              <a:pPr defTabSz="914086">
                <a:defRPr/>
              </a:pPr>
              <a:t>7</a:t>
            </a:fld>
            <a:endParaRPr lang="ru-RU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6956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086">
              <a:defRPr/>
            </a:pPr>
            <a:fld id="{74A8CDDC-FAC2-4836-B36C-96CE764B8F6B}" type="slidenum">
              <a:rPr lang="ru-RU">
                <a:solidFill>
                  <a:prstClr val="black"/>
                </a:solidFill>
                <a:latin typeface="Calibri" panose="020F0502020204030204"/>
              </a:rPr>
              <a:pPr defTabSz="914086">
                <a:defRPr/>
              </a:pPr>
              <a:t>8</a:t>
            </a:fld>
            <a:endParaRPr lang="ru-RU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98117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493713" y="858838"/>
            <a:ext cx="7651751" cy="4303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750699-85EC-4D72-8456-7B85FEB7B1B6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349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00013" y="746125"/>
            <a:ext cx="6656387" cy="3744913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0989D0-C53D-4FDA-9614-ED228E963AAB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6509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00013" y="746125"/>
            <a:ext cx="6656387" cy="3744913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0989D0-C53D-4FDA-9614-ED228E963AAB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8655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00013" y="746125"/>
            <a:ext cx="6656387" cy="3744913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0989D0-C53D-4FDA-9614-ED228E963AAB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8747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00013" y="746125"/>
            <a:ext cx="6656387" cy="3744913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0989D0-C53D-4FDA-9614-ED228E963AAB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8522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00013" y="746125"/>
            <a:ext cx="6656387" cy="3744913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0989D0-C53D-4FDA-9614-ED228E963AAB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6694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00013" y="746125"/>
            <a:ext cx="6656387" cy="3744913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0989D0-C53D-4FDA-9614-ED228E963AAB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0452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00013" y="746125"/>
            <a:ext cx="6656387" cy="3744913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0989D0-C53D-4FDA-9614-ED228E963AAB}" type="slidenum">
              <a:rPr lang="ru-RU" smtClean="0"/>
              <a:pPr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5214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00013" y="746125"/>
            <a:ext cx="6656387" cy="3744913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0989D0-C53D-4FDA-9614-ED228E963AAB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9451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493713" y="858838"/>
            <a:ext cx="7651751" cy="4303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750699-85EC-4D72-8456-7B85FEB7B1B6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2021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493713" y="858838"/>
            <a:ext cx="7651751" cy="4303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750699-85EC-4D72-8456-7B85FEB7B1B6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3049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493713" y="858838"/>
            <a:ext cx="7651751" cy="430371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750699-85EC-4D72-8456-7B85FEB7B1B6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89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085F3-D9D1-4FA6-8EBD-FE1281FE12EC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895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1326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30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38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20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927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717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206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947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76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116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11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85023-0705-4B8D-AD88-D4DBD6BAFE7B}" type="datetimeFigureOut">
              <a:rPr lang="ru-RU" smtClean="0"/>
              <a:t>16.09.2021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C6F32-A32C-4778-A85C-3809AEB74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133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15"/>
          <p:cNvSpPr>
            <a:spLocks noChangeArrowheads="1"/>
          </p:cNvSpPr>
          <p:nvPr/>
        </p:nvSpPr>
        <p:spPr bwMode="auto">
          <a:xfrm>
            <a:off x="4887362" y="5872243"/>
            <a:ext cx="3024336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ru-RU" altLang="ru-RU" sz="1800" b="1" dirty="0">
                <a:solidFill>
                  <a:srgbClr val="A88000"/>
                </a:solidFill>
                <a:latin typeface="Times New Roman" pitchFamily="18" charset="0"/>
                <a:cs typeface="Times New Roman" pitchFamily="18" charset="0"/>
              </a:rPr>
              <a:t>г. Тверь</a:t>
            </a:r>
          </a:p>
          <a:p>
            <a:pPr algn="ctr" eaLnBrk="1" fontAlgn="auto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ru-RU" altLang="ru-RU" sz="1800" b="1" dirty="0">
                <a:solidFill>
                  <a:srgbClr val="A88000"/>
                </a:solidFill>
                <a:latin typeface="Times New Roman" pitchFamily="18" charset="0"/>
                <a:cs typeface="Times New Roman" pitchFamily="18" charset="0"/>
              </a:rPr>
              <a:t>13 сентября 2021 года</a:t>
            </a:r>
          </a:p>
        </p:txBody>
      </p:sp>
      <p:pic>
        <p:nvPicPr>
          <p:cNvPr id="8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9" name="Прямоугольник 8"/>
          <p:cNvSpPr>
            <a:spLocks noChangeArrowheads="1"/>
          </p:cNvSpPr>
          <p:nvPr/>
        </p:nvSpPr>
        <p:spPr bwMode="auto">
          <a:xfrm>
            <a:off x="1256711" y="2991794"/>
            <a:ext cx="1028563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 исполнения средств федерального бюджета</a:t>
            </a:r>
          </a:p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2021 году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23635" y="240452"/>
            <a:ext cx="59396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ПРАВИТЕЛЬСТВО</a:t>
            </a:r>
            <a:br>
              <a:rPr 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ТВЕРСКОЙ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2099779369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Box 1"/>
          <p:cNvSpPr txBox="1">
            <a:spLocks noChangeArrowheads="1"/>
          </p:cNvSpPr>
          <p:nvPr/>
        </p:nvSpPr>
        <p:spPr bwMode="auto">
          <a:xfrm>
            <a:off x="10875542" y="829662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 руб.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9262086" y="6492875"/>
            <a:ext cx="2846916" cy="365125"/>
          </a:xfrm>
        </p:spPr>
        <p:txBody>
          <a:bodyPr/>
          <a:lstStyle/>
          <a:p>
            <a:pPr>
              <a:defRPr/>
            </a:pPr>
            <a:fld id="{0915096C-1EF5-4776-B666-80E383B749FA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9" name="Прямоугольник 18"/>
          <p:cNvSpPr>
            <a:spLocks noChangeArrowheads="1"/>
          </p:cNvSpPr>
          <p:nvPr/>
        </p:nvSpPr>
        <p:spPr bwMode="auto">
          <a:xfrm>
            <a:off x="1165445" y="287110"/>
            <a:ext cx="108118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ИСПОЛНЕНИЕ РАСХОДОВ ЗА СЧЕТ СРЕДСТВ ФЕДЕРАЛЬНОГО БЮДЖЕТА</a:t>
            </a:r>
            <a:endParaRPr lang="en-US" altLang="ru-RU" sz="2000" b="1" dirty="0">
              <a:solidFill>
                <a:srgbClr val="CCAF0A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867836"/>
              </p:ext>
            </p:extLst>
          </p:nvPr>
        </p:nvGraphicFramePr>
        <p:xfrm>
          <a:off x="1270861" y="1247030"/>
          <a:ext cx="10376114" cy="13106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075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2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2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Предусмотрено </a:t>
                      </a:r>
                    </a:p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2021 год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Исполнено </a:t>
                      </a:r>
                    </a:p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13.09.2021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исполнения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исполнено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13.09.2021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Риски неисполнения по итогам 2021 года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24 885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9 862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40 %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15 023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7 501 </a:t>
                      </a:r>
                      <a:r>
                        <a:rPr lang="ru-RU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(30 %)</a:t>
                      </a:r>
                      <a:endParaRPr lang="ru-RU" sz="2000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Диаграмма 9"/>
          <p:cNvGraphicFramePr/>
          <p:nvPr>
            <p:extLst>
              <p:ext uri="{D42A27DB-BD31-4B8C-83A1-F6EECF244321}">
                <p14:modId xmlns:p14="http://schemas.microsoft.com/office/powerpoint/2010/main" val="3807006851"/>
              </p:ext>
            </p:extLst>
          </p:nvPr>
        </p:nvGraphicFramePr>
        <p:xfrm>
          <a:off x="772821" y="2378311"/>
          <a:ext cx="10190135" cy="4223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29457234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094029" y="135574"/>
            <a:ext cx="7956207" cy="442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A8800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4808850" y="1327140"/>
            <a:ext cx="6731190" cy="2554529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ctr" fontAlgn="t"/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 fontAlgn="t"/>
            <a:r>
              <a:rPr lang="ru-RU" b="1" dirty="0"/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Строительство мостового перехода через реку Волга </a:t>
            </a:r>
          </a:p>
          <a:p>
            <a:pPr algn="ctr" fontAlgn="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г. Твери (Западный мост) (в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т.ч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ПИР)</a:t>
            </a:r>
          </a:p>
          <a:p>
            <a:pPr algn="ctr" fontAlgn="t"/>
            <a:endParaRPr lang="ru-RU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Возврат средств предоставленных из резервного фонда Правительства РФ в сумме </a:t>
            </a:r>
            <a:r>
              <a:rPr lang="ru-RU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2000,0 млн руб.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в случае отсутствия исполнения. Контракты не заключены.</a:t>
            </a:r>
          </a:p>
          <a:p>
            <a:pPr algn="just"/>
            <a:endParaRPr lang="ru-RU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423153" y="6435894"/>
            <a:ext cx="2743200" cy="365125"/>
          </a:xfrm>
        </p:spPr>
        <p:txBody>
          <a:bodyPr/>
          <a:lstStyle/>
          <a:p>
            <a:fld id="{2012FAE6-71DE-4081-B978-1D2DEB93059A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трелка вправо 7"/>
          <p:cNvSpPr/>
          <p:nvPr/>
        </p:nvSpPr>
        <p:spPr>
          <a:xfrm>
            <a:off x="1000013" y="2487477"/>
            <a:ext cx="3240000" cy="2520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Отрасль </a:t>
            </a:r>
          </a:p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«Дорожное хозяйство»</a:t>
            </a:r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auto">
          <a:xfrm>
            <a:off x="4808850" y="4076493"/>
            <a:ext cx="6731190" cy="1969754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just"/>
            <a:endParaRPr lang="ru-RU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Дорога «Москва – Санкт-Петербург» – </a:t>
            </a:r>
            <a:r>
              <a:rPr lang="ru-RU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Чуприяновка</a:t>
            </a:r>
            <a:r>
              <a:rPr lang="ru-RU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Старый Погост</a:t>
            </a:r>
          </a:p>
          <a:p>
            <a:pPr algn="ctr"/>
            <a:endParaRPr lang="ru-RU" sz="20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Работы по контракту на сумму </a:t>
            </a:r>
            <a:r>
              <a:rPr lang="ru-RU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261,8 млн руб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не принимаются с 2019 года. 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2" name="Прямоугольник 11"/>
          <p:cNvSpPr/>
          <p:nvPr/>
        </p:nvSpPr>
        <p:spPr>
          <a:xfrm>
            <a:off x="1308626" y="172165"/>
            <a:ext cx="107092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РИСКИ ИСПОЛНЕНИЯ СРЕДСТВ ФЕДЕРАЛЬНОГО БЮДЖЕТА В 2021 ГОДУ</a:t>
            </a:r>
            <a:endParaRPr lang="ru-RU" sz="2000" b="1" dirty="0">
              <a:solidFill>
                <a:srgbClr val="CCAF0A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212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094029" y="135574"/>
            <a:ext cx="7956207" cy="442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A8800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423153" y="6435894"/>
            <a:ext cx="2743200" cy="365125"/>
          </a:xfrm>
        </p:spPr>
        <p:txBody>
          <a:bodyPr/>
          <a:lstStyle/>
          <a:p>
            <a:fld id="{2012FAE6-71DE-4081-B978-1D2DEB93059A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10"/>
          <p:cNvSpPr>
            <a:spLocks noChangeArrowheads="1"/>
          </p:cNvSpPr>
          <p:nvPr/>
        </p:nvSpPr>
        <p:spPr bwMode="auto">
          <a:xfrm>
            <a:off x="4076054" y="916018"/>
            <a:ext cx="7756342" cy="2246753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ctr"/>
            <a:r>
              <a:rPr lang="ru-RU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Первый этап реконструкции канализационных очистных сооружений в г. Конаково </a:t>
            </a:r>
          </a:p>
          <a:p>
            <a:pPr algn="ctr"/>
            <a:r>
              <a:rPr lang="ru-RU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Реконструкция блока  биологической  г. Твери </a:t>
            </a:r>
          </a:p>
          <a:p>
            <a:pPr algn="just"/>
            <a:r>
              <a:rPr lang="ru-RU" sz="19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Отсутствует подтверждение об использовании средств в 2021 году неиспользованных в 2020 году средств из федерального бюджета в сумме  </a:t>
            </a:r>
            <a:r>
              <a:rPr lang="ru-RU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269,5 млн руб.</a:t>
            </a:r>
            <a:r>
              <a:rPr lang="ru-RU" sz="19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под заключенные контракты (по информации Минэнерго </a:t>
            </a:r>
            <a:r>
              <a:rPr lang="ru-RU" sz="19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допсоглашение</a:t>
            </a:r>
            <a:r>
              <a:rPr lang="ru-RU" sz="19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проходит визирование в Минстрое РФ).</a:t>
            </a:r>
          </a:p>
        </p:txBody>
      </p:sp>
      <p:sp>
        <p:nvSpPr>
          <p:cNvPr id="12" name="Стрелка вправо 11"/>
          <p:cNvSpPr/>
          <p:nvPr/>
        </p:nvSpPr>
        <p:spPr>
          <a:xfrm>
            <a:off x="748340" y="2522980"/>
            <a:ext cx="3240000" cy="2520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Отрасль «Жилищно-коммунальное хозяйство»</a:t>
            </a:r>
          </a:p>
        </p:txBody>
      </p:sp>
      <p:sp>
        <p:nvSpPr>
          <p:cNvPr id="8" name="Прямоугольник 10"/>
          <p:cNvSpPr>
            <a:spLocks noChangeArrowheads="1"/>
          </p:cNvSpPr>
          <p:nvPr/>
        </p:nvSpPr>
        <p:spPr bwMode="auto">
          <a:xfrm>
            <a:off x="4076054" y="3195049"/>
            <a:ext cx="7756342" cy="1000258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ctr"/>
            <a:r>
              <a:rPr lang="ru-RU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Строительство биологических очистных сооружений г. Старица</a:t>
            </a:r>
          </a:p>
          <a:p>
            <a:pPr algn="just"/>
            <a:r>
              <a:rPr lang="ru-RU" sz="19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Предусмотрено </a:t>
            </a:r>
            <a:r>
              <a:rPr lang="ru-RU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14,9 млн руб</a:t>
            </a:r>
            <a:r>
              <a:rPr lang="ru-RU" sz="19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Объект отсутствует в соглашении с Минстроем РФ, увеличение стоимости объекта, требуются средства ФБ.</a:t>
            </a:r>
          </a:p>
        </p:txBody>
      </p:sp>
      <p:sp>
        <p:nvSpPr>
          <p:cNvPr id="9" name="Прямоугольник 10"/>
          <p:cNvSpPr>
            <a:spLocks noChangeArrowheads="1"/>
          </p:cNvSpPr>
          <p:nvPr/>
        </p:nvSpPr>
        <p:spPr bwMode="auto">
          <a:xfrm>
            <a:off x="4076054" y="4235334"/>
            <a:ext cx="7756342" cy="1877421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ctr"/>
            <a:r>
              <a:rPr lang="ru-RU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Газоснабжение д. </a:t>
            </a:r>
            <a:r>
              <a:rPr lang="ru-RU" sz="19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Костерёво</a:t>
            </a:r>
            <a:r>
              <a:rPr lang="ru-RU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д. </a:t>
            </a:r>
            <a:r>
              <a:rPr lang="ru-RU" sz="19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Есёмово</a:t>
            </a:r>
            <a:r>
              <a:rPr lang="ru-RU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сельского поселения «</a:t>
            </a:r>
            <a:r>
              <a:rPr lang="ru-RU" sz="19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Хорошево</a:t>
            </a:r>
            <a:r>
              <a:rPr lang="ru-RU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» Ржевского района</a:t>
            </a:r>
          </a:p>
          <a:p>
            <a:pPr algn="just"/>
            <a:r>
              <a:rPr lang="ru-RU" sz="19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Реализация объекта в рамках консолидированной субсидии из федерального бюджета. Распределение субсидии Ржевскому району на объект в сумме </a:t>
            </a:r>
            <a:r>
              <a:rPr lang="ru-RU" sz="19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12,3 млн руб</a:t>
            </a:r>
            <a:r>
              <a:rPr lang="ru-RU" sz="19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рассмотрено на заседании Правительства Тверской области 14.09.2021(м/контракт в стадии заключения).</a:t>
            </a:r>
            <a:endParaRPr lang="ru-RU" sz="19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"/>
          <p:cNvPicPr>
            <a:picLocks noChangeAspect="1" noChangeArrowheads="1"/>
          </p:cNvPicPr>
          <p:nvPr/>
        </p:nvPicPr>
        <p:blipFill>
          <a:blip r:embed="rId4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4" name="Прямоугольник 13"/>
          <p:cNvSpPr/>
          <p:nvPr/>
        </p:nvSpPr>
        <p:spPr>
          <a:xfrm>
            <a:off x="1308626" y="172165"/>
            <a:ext cx="107092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РИСКИ ИСПОЛНЕНИЯ СРЕДСТВ ФЕДЕРАЛЬНОГО БЮДЖЕТА В 2021 ГОДУ</a:t>
            </a:r>
            <a:endParaRPr lang="ru-RU" sz="2000" b="1" dirty="0">
              <a:solidFill>
                <a:srgbClr val="CCAF0A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 (продолжение)</a:t>
            </a:r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076054" y="6133972"/>
            <a:ext cx="7756342" cy="649392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marL="108000" algn="ctr" defTabSz="607470" fontAlgn="ctr">
              <a:lnSpc>
                <a:spcPct val="90000"/>
              </a:lnSpc>
            </a:pP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Переселение из аварийного жилого фонда</a:t>
            </a:r>
          </a:p>
          <a:p>
            <a:pPr lvl="0" algn="just" defTabSz="607470">
              <a:lnSpc>
                <a:spcPct val="90000"/>
              </a:lnSpc>
              <a:defRPr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заключены контракты на </a:t>
            </a: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 млн руб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sz="1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030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094029" y="135574"/>
            <a:ext cx="7956207" cy="442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A8800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308626" y="172165"/>
            <a:ext cx="107092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РИСКИ ИСПОЛНЕНИЯ СРЕДСТВ ФЕДЕРАЛЬНОГО БЮДЖЕТА В 2021 ГОДУ</a:t>
            </a:r>
            <a:endParaRPr lang="ru-RU" sz="2000" b="1" dirty="0">
              <a:solidFill>
                <a:srgbClr val="CCAF0A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(продолжение)</a:t>
            </a:r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3657601" y="967720"/>
            <a:ext cx="8260596" cy="1354201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just"/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Строительство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Бежецкой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центральной районной больницы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на сумму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107,1 млн руб.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включен в федеральную  адресную  инвестиционную  программу в соответствии с нормами федерального законодательства . Работы выполняются, аванс не оплачен. 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Прямоугольник 10"/>
          <p:cNvSpPr>
            <a:spLocks noChangeArrowheads="1"/>
          </p:cNvSpPr>
          <p:nvPr/>
        </p:nvSpPr>
        <p:spPr bwMode="auto">
          <a:xfrm>
            <a:off x="3657601" y="3720968"/>
            <a:ext cx="8260596" cy="1661977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Строительство детской областной клинической больницы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Доппотребность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строительство ДОКБ -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3 128,3 млн руб.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(434,9 млн руб. – сокращение средств ФБ и 2 693,4 млн руб.- увеличение сметной стоимости в соответствии с госэкспертизой). Низкий темп выполнения работ. Не использован  в полном объеме аванс 2020г.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398295" y="6492875"/>
            <a:ext cx="2743200" cy="365125"/>
          </a:xfrm>
        </p:spPr>
        <p:txBody>
          <a:bodyPr/>
          <a:lstStyle/>
          <a:p>
            <a:fld id="{2012FAE6-71DE-4081-B978-1D2DEB93059A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трелка вправо 7"/>
          <p:cNvSpPr/>
          <p:nvPr/>
        </p:nvSpPr>
        <p:spPr>
          <a:xfrm>
            <a:off x="635431" y="2460968"/>
            <a:ext cx="2960176" cy="2520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rIns="10800"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Отрасль «Здравоохранение»</a:t>
            </a:r>
          </a:p>
        </p:txBody>
      </p:sp>
      <p:sp>
        <p:nvSpPr>
          <p:cNvPr id="9" name="Прямоугольник 10"/>
          <p:cNvSpPr>
            <a:spLocks noChangeArrowheads="1"/>
          </p:cNvSpPr>
          <p:nvPr/>
        </p:nvSpPr>
        <p:spPr bwMode="auto">
          <a:xfrm>
            <a:off x="3657600" y="5375197"/>
            <a:ext cx="8260597" cy="1354201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Строительство 4-х поликлиник (Тверь, Кимры (2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Торжок)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 Минобороны. Работы не выполняется. Заявлена дополнительная потребность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437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,7 млн руб.,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2 175,1 млн руб. Риск неполучения средств ФБ -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671,6 млн руб.</a:t>
            </a:r>
          </a:p>
        </p:txBody>
      </p:sp>
      <p:sp>
        <p:nvSpPr>
          <p:cNvPr id="10" name="Прямоугольник 10"/>
          <p:cNvSpPr>
            <a:spLocks noChangeArrowheads="1"/>
          </p:cNvSpPr>
          <p:nvPr/>
        </p:nvSpPr>
        <p:spPr bwMode="auto">
          <a:xfrm>
            <a:off x="3657600" y="2349786"/>
            <a:ext cx="8260595" cy="1354201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fontAlgn="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Реновация (строительство) / реконструкция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Бологовской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ЦРБ</a:t>
            </a:r>
            <a:endParaRPr lang="ru-RU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Отсутствует техническое задание на проектирование объекта. Конкурентные процедуры не проведены.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Госконтракт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заключен. Риск неполучения средств ФБ -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59,4 млн руб.</a:t>
            </a:r>
          </a:p>
        </p:txBody>
      </p:sp>
      <p:pic>
        <p:nvPicPr>
          <p:cNvPr id="12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644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9262086" y="6492875"/>
            <a:ext cx="2846916" cy="365125"/>
          </a:xfrm>
        </p:spPr>
        <p:txBody>
          <a:bodyPr/>
          <a:lstStyle/>
          <a:p>
            <a:pPr>
              <a:defRPr/>
            </a:pPr>
            <a:fld id="{0915096C-1EF5-4776-B666-80E383B749FA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6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4486759" y="1388206"/>
            <a:ext cx="7324441" cy="2462196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marL="108000" algn="ctr" defTabSz="607470" fontAlgn="ctr">
              <a:lnSpc>
                <a:spcPct val="9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размещены закупки на общую сумму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362 млн руб.:</a:t>
            </a:r>
            <a:endParaRPr lang="ru-RU" sz="20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08000" algn="ctr" defTabSz="607470" fontAlgn="ctr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Капитальный ремонт 3-х ЦРБ </a:t>
            </a:r>
          </a:p>
          <a:p>
            <a:pPr marL="108000" algn="ctr" defTabSz="607470" fontAlgn="ctr">
              <a:lnSpc>
                <a:spcPct val="90000"/>
              </a:lnSpc>
            </a:pPr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(Ржевская, Осташковская, Конаковская)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(130 млн руб.)</a:t>
            </a:r>
          </a:p>
          <a:p>
            <a:pPr marL="108000" algn="ctr" defTabSz="607470" fontAlgn="ctr">
              <a:lnSpc>
                <a:spcPct val="9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Модернизация лабораторий 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медорганизаций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(98 млн руб.) 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Переоснащение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онкодиспансера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(56 млн руб.)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ЕГИСЗ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(52 млн руб.)</a:t>
            </a:r>
          </a:p>
          <a:p>
            <a:pPr algn="ctr">
              <a:spcAft>
                <a:spcPts val="1200"/>
              </a:spcAf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паллиативной помощи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(26 млн руб.)</a:t>
            </a:r>
            <a:endParaRPr kumimoji="0" lang="ru-RU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4486759" y="4021613"/>
            <a:ext cx="7324441" cy="2492974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marL="108000" algn="ctr" defTabSz="607470" fontAlgn="ctr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Трансферты Фонду ОМС Тверской области на дополнительное финансовое обеспечение медицинских организаций в условиях чрезвычайной ситуации</a:t>
            </a:r>
          </a:p>
          <a:p>
            <a:pPr algn="ctr"/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lvl="0" algn="just" defTabSz="607470"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предусмотрены и направлены на оплату контрактов 2020 года. В Правительство РФ направлено обращение об использовании остатка средств в сумме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245 млн руб.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оплату счетов 2019 г.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308626" y="172165"/>
            <a:ext cx="107092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РИСКИ ИСПОЛНЕНИЯ СРЕДСТВ ФЕДЕРАЛЬНОГО БЮДЖЕТА В 2021 ГОДУ</a:t>
            </a:r>
            <a:endParaRPr lang="ru-RU" sz="2000" b="1" dirty="0">
              <a:solidFill>
                <a:srgbClr val="CCAF0A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(продолжение)</a:t>
            </a:r>
          </a:p>
        </p:txBody>
      </p:sp>
      <p:sp>
        <p:nvSpPr>
          <p:cNvPr id="14" name="Стрелка вправо 13"/>
          <p:cNvSpPr/>
          <p:nvPr/>
        </p:nvSpPr>
        <p:spPr>
          <a:xfrm>
            <a:off x="947344" y="2573137"/>
            <a:ext cx="3065794" cy="2520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Отрасль «Здравоохранение»</a:t>
            </a:r>
          </a:p>
        </p:txBody>
      </p:sp>
    </p:spTree>
    <p:extLst>
      <p:ext uri="{BB962C8B-B14F-4D97-AF65-F5344CB8AC3E}">
        <p14:creationId xmlns:p14="http://schemas.microsoft.com/office/powerpoint/2010/main" val="404260293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094029" y="135574"/>
            <a:ext cx="7956207" cy="442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A8800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423153" y="6435894"/>
            <a:ext cx="2743200" cy="365125"/>
          </a:xfrm>
        </p:spPr>
        <p:txBody>
          <a:bodyPr/>
          <a:lstStyle/>
          <a:p>
            <a:fld id="{2012FAE6-71DE-4081-B978-1D2DEB93059A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Стрелка вправо 8"/>
          <p:cNvSpPr/>
          <p:nvPr/>
        </p:nvSpPr>
        <p:spPr>
          <a:xfrm>
            <a:off x="947344" y="2268460"/>
            <a:ext cx="3240000" cy="2520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Отрасль «Образование»</a:t>
            </a:r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auto">
          <a:xfrm>
            <a:off x="4409268" y="843230"/>
            <a:ext cx="7226378" cy="1354201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ctr"/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ru-RU" b="1" dirty="0"/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Строительство СОШ на 1224 места в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мкрн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«Южный»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Объект Минобороны. Работы не выполняются. Заявлено увеличение стоимости -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min 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836,0 млн руб.,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max 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2 510,2 млн руб. Аванс 157,6 млн руб. (ОБ). Риск  – </a:t>
            </a:r>
            <a:r>
              <a:rPr lang="ru-RU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316 млн руб.  </a:t>
            </a:r>
          </a:p>
        </p:txBody>
      </p:sp>
      <p:pic>
        <p:nvPicPr>
          <p:cNvPr id="12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4409268" y="5026531"/>
            <a:ext cx="7226378" cy="1600422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marL="108000" lvl="1" algn="ctr" defTabSz="809960">
              <a:lnSpc>
                <a:spcPct val="90000"/>
              </a:lnSpc>
              <a:defRPr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цифровой образовательной среды </a:t>
            </a:r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(приобретение оборудования)</a:t>
            </a:r>
          </a:p>
          <a:p>
            <a:pPr lvl="0" algn="just" defTabSz="607470"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Государственный контракт 2020 года в сумме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163 млн руб.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расторгнут, вопрос находится на рассмотрении в Мировом суде. Контракты за счет средств 2021 года заключены.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308626" y="172165"/>
            <a:ext cx="107092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РИСКИ ИСПОЛНЕНИЯ СРЕДСТВ ФЕДЕРАЛЬНОГО БЮДЖЕТА В 2021 ГОДУ</a:t>
            </a:r>
            <a:endParaRPr lang="ru-RU" sz="2000" b="1" dirty="0">
              <a:solidFill>
                <a:srgbClr val="CCAF0A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(продолжение)</a:t>
            </a:r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4409268" y="2241396"/>
            <a:ext cx="7226378" cy="1354201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ctr"/>
            <a:r>
              <a:rPr lang="ru-RU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Детский сад на 160 мест в г. Вышний Волочек</a:t>
            </a:r>
          </a:p>
          <a:p>
            <a:pPr algn="just">
              <a:spcAft>
                <a:spcPts val="600"/>
              </a:spcAft>
            </a:pPr>
            <a:r>
              <a:rPr kumimoji="0" lang="ru-RU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Объект Минобороны: Работы выполняются, заявлено увеличение стоимости -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min </a:t>
            </a:r>
            <a:r>
              <a:rPr kumimoji="0" lang="ru-RU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88,4 млн руб.</a:t>
            </a:r>
            <a:r>
              <a:rPr lang="en-US" sz="2000" noProof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max </a:t>
            </a:r>
            <a:r>
              <a:rPr kumimoji="0" lang="ru-RU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179,1 млн руб. 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Риск  –    </a:t>
            </a:r>
            <a:r>
              <a:rPr lang="ru-RU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57,9 млн руб. 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409268" y="3639562"/>
            <a:ext cx="7226378" cy="1354201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ctr"/>
            <a:r>
              <a:rPr lang="ru-RU" sz="2000" b="1" noProof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Детский сад  в г. Тверь, </a:t>
            </a:r>
            <a:r>
              <a:rPr lang="ru-RU" sz="2000" b="1" noProof="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мкрн</a:t>
            </a:r>
            <a:r>
              <a:rPr lang="ru-RU" sz="2000" b="1" noProof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«Южный», ул. Левитана</a:t>
            </a:r>
          </a:p>
          <a:p>
            <a:pPr algn="just"/>
            <a:r>
              <a:rPr kumimoji="0" lang="ru-RU" sz="200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Отставание</a:t>
            </a:r>
            <a:r>
              <a:rPr kumimoji="0" lang="ru-RU" sz="2000" i="0" u="none" strike="noStrike" kern="120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от графика. Предусмотрено 117,5 млн руб., кассовый расход 27,2 млн руб. 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Риск неполучения средств ФБ – </a:t>
            </a:r>
            <a:r>
              <a:rPr lang="ru-RU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43,3 млн руб. 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846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094029" y="135574"/>
            <a:ext cx="7956207" cy="442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A8800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4810886" y="1103443"/>
            <a:ext cx="7037722" cy="2554529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algn="ctr"/>
            <a:endParaRPr lang="ru-RU" b="1" dirty="0"/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Крытый футбольный манеж в г. Твери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Объект Минобороны. Работы не выполняются. Заявлено увеличение стоимости. Аванс перечислен.  Отзыв субсидии из федерального бюджета в сумме </a:t>
            </a:r>
            <a:r>
              <a:rPr lang="ru-RU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108,4 млн руб.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(Минспортом РФ представлено </a:t>
            </a:r>
            <a:r>
              <a:rPr lang="ru-RU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допсоглашение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на уменьшение бюджетных ассигнований) О</a:t>
            </a:r>
          </a:p>
          <a:p>
            <a:pPr algn="just"/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423153" y="6435894"/>
            <a:ext cx="2743200" cy="365125"/>
          </a:xfrm>
        </p:spPr>
        <p:txBody>
          <a:bodyPr/>
          <a:lstStyle/>
          <a:p>
            <a:fld id="{2012FAE6-71DE-4081-B978-1D2DEB93059A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трелка вправо 7"/>
          <p:cNvSpPr/>
          <p:nvPr/>
        </p:nvSpPr>
        <p:spPr>
          <a:xfrm>
            <a:off x="1064027" y="1228737"/>
            <a:ext cx="3240000" cy="2520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Отрасль «Физическая культура и спорт»</a:t>
            </a:r>
          </a:p>
        </p:txBody>
      </p:sp>
      <p:pic>
        <p:nvPicPr>
          <p:cNvPr id="12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4773479" y="3603250"/>
            <a:ext cx="7112536" cy="2831528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marL="108000" algn="ctr" defTabSz="607470" fontAlgn="ctr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Оказание социальной помощи на основании социального контракта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lvl="0" algn="just" defTabSz="607470"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Оказание социальной помощи путем заключения социального контракта реализуется с мая 2021 года в связи с уточнением федерального законодательства. Также отмечается невысокий уровень спроса населения по отдельным направлениям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соцконтракта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(прогнозные данные по уточненной потребности, уменьшенной на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 млн руб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 направлены направлены в Минтруд РФ).</a:t>
            </a:r>
            <a:endParaRPr lang="ru-RU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Стрелка вправо 14"/>
          <p:cNvSpPr/>
          <p:nvPr/>
        </p:nvSpPr>
        <p:spPr>
          <a:xfrm>
            <a:off x="1002712" y="3967109"/>
            <a:ext cx="3240000" cy="2520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Отрасль «Социальная защита населения»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1308626" y="172165"/>
            <a:ext cx="107092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РИСКИ ИСПОЛНЕНИЯ СРЕДСТВ ФЕДЕРАЛЬНОГО БЮДЖЕТА В 2021 ГОДУ</a:t>
            </a:r>
            <a:endParaRPr lang="ru-RU" sz="2000" b="1" dirty="0">
              <a:solidFill>
                <a:srgbClr val="CCAF0A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(продолжение)</a:t>
            </a:r>
          </a:p>
        </p:txBody>
      </p:sp>
    </p:spTree>
    <p:extLst>
      <p:ext uri="{BB962C8B-B14F-4D97-AF65-F5344CB8AC3E}">
        <p14:creationId xmlns:p14="http://schemas.microsoft.com/office/powerpoint/2010/main" val="422821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9262086" y="6492875"/>
            <a:ext cx="2846916" cy="365125"/>
          </a:xfrm>
        </p:spPr>
        <p:txBody>
          <a:bodyPr/>
          <a:lstStyle/>
          <a:p>
            <a:pPr>
              <a:defRPr/>
            </a:pPr>
            <a:fld id="{0915096C-1EF5-4776-B666-80E383B749FA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9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4657240" y="1999235"/>
            <a:ext cx="7130712" cy="4247300"/>
          </a:xfrm>
          <a:prstGeom prst="rect">
            <a:avLst/>
          </a:prstGeom>
          <a:solidFill>
            <a:srgbClr val="FFECD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21903" tIns="60952" rIns="121903" bIns="60952">
            <a:spAutoFit/>
          </a:bodyPr>
          <a:lstStyle/>
          <a:p>
            <a:pPr marL="108000" algn="ctr" defTabSz="607470" fontAlgn="ctr">
              <a:lnSpc>
                <a:spcPct val="90000"/>
              </a:lnSpc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00" algn="ctr" defTabSz="607470" fontAlgn="ctr">
              <a:lnSpc>
                <a:spcPct val="90000"/>
              </a:lnSpc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00" algn="ctr" defTabSz="607470" fontAlgn="ctr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Стимулирование развития приоритетных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подотраслей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АПК и развитие малых форм хозяйствования</a:t>
            </a:r>
          </a:p>
          <a:p>
            <a:pPr marL="108000" algn="ctr" defTabSz="607470" fontAlgn="ctr">
              <a:lnSpc>
                <a:spcPct val="90000"/>
              </a:lnSpc>
            </a:pP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утверждены порядки предоставления субсидий по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грантовой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поддержке семейных ферм и  сельскохозяйственных потребительских кооперативов на развитие мат.-тех. базы.</a:t>
            </a:r>
          </a:p>
          <a:p>
            <a:pPr algn="just">
              <a:spcBef>
                <a:spcPts val="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Получатели субсидий определяются в результате конкурсного отбора, срок определения победителей отбора, установленный на федеральном уровне – не позднее 1 октября.</a:t>
            </a:r>
          </a:p>
          <a:p>
            <a:pPr algn="just">
              <a:spcBef>
                <a:spcPts val="0"/>
              </a:spcBef>
            </a:pP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Риск неполучения средств ФБ –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 млн руб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90000"/>
              </a:lnSpc>
              <a:spcBef>
                <a:spcPts val="0"/>
              </a:spcBef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Стрелка вправо 12"/>
          <p:cNvSpPr/>
          <p:nvPr/>
        </p:nvSpPr>
        <p:spPr>
          <a:xfrm>
            <a:off x="1142686" y="2601275"/>
            <a:ext cx="3240000" cy="25200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Отрасль </a:t>
            </a:r>
          </a:p>
          <a:p>
            <a:pPr algn="ct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«Сельское хозяйство»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308626" y="172165"/>
            <a:ext cx="107092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РИСКИ ИСПОЛНЕНИЯ СРЕДСТВ ФЕДЕРАЛЬНОГО БЮДЖЕТА В 2021 ГОДУ</a:t>
            </a:r>
            <a:endParaRPr lang="ru-RU" sz="2000" b="1" dirty="0">
              <a:solidFill>
                <a:srgbClr val="CCAF0A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  <a:p>
            <a:pPr marR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(продолжение)</a:t>
            </a:r>
          </a:p>
        </p:txBody>
      </p:sp>
    </p:spTree>
    <p:extLst>
      <p:ext uri="{BB962C8B-B14F-4D97-AF65-F5344CB8AC3E}">
        <p14:creationId xmlns:p14="http://schemas.microsoft.com/office/powerpoint/2010/main" val="1768532741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1025097" y="240452"/>
            <a:ext cx="110395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ИНФОРМАЦИЯ ОБ ИСПОЛНЕНИИ ОТДЕЛЬНЫХ МЕРОПРИЯТИЙ </a:t>
            </a:r>
          </a:p>
          <a:p>
            <a:pPr marR="0" lvl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С ПРИВЛЕЧЕНИЕМ СРЕДСТВ ФЕДЕРАЛЬНОГО БЮДЖЕТА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96399" y="6380058"/>
            <a:ext cx="2743200" cy="365125"/>
          </a:xfrm>
        </p:spPr>
        <p:txBody>
          <a:bodyPr/>
          <a:lstStyle/>
          <a:p>
            <a:fld id="{FA0E902D-E5D9-4990-A5FF-8599B2B31D15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437683"/>
              </p:ext>
            </p:extLst>
          </p:nvPr>
        </p:nvGraphicFramePr>
        <p:xfrm>
          <a:off x="1644543" y="1606281"/>
          <a:ext cx="973121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ru-RU" sz="2400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lang="ru-RU" altLang="ru-RU" sz="2400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Исполнение АИП по средствам полученным из федерального бюджета по объектам </a:t>
                      </a:r>
                      <a:r>
                        <a:rPr lang="ru-RU" altLang="ru-RU" sz="2400" b="0" u="sng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государственной </a:t>
                      </a:r>
                      <a:r>
                        <a:rPr lang="ru-RU" altLang="ru-RU" sz="2400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собственности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ru-RU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(риски – 6 253,8 млн руб.)</a:t>
                      </a:r>
                    </a:p>
                    <a:p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ru-RU" sz="2400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II</a:t>
                      </a:r>
                      <a:r>
                        <a:rPr lang="ru-RU" altLang="ru-RU" sz="2400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Исполнение АИП по средствам полученным из федерального бюджета по объектам </a:t>
                      </a:r>
                      <a:r>
                        <a:rPr lang="ru-RU" altLang="ru-RU" sz="2400" b="0" u="sng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муниципальной </a:t>
                      </a:r>
                      <a:r>
                        <a:rPr lang="ru-RU" altLang="ru-RU" sz="2400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собственности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ru-RU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(риски – 130,5 млн руб.)</a:t>
                      </a:r>
                    </a:p>
                    <a:p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ru-RU" sz="2400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III</a:t>
                      </a:r>
                      <a:r>
                        <a:rPr lang="ru-RU" altLang="ru-RU" sz="2400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Исполнение по средствам федерального бюджета, не включенным в АИП, имеющим риски исполнения </a:t>
                      </a:r>
                    </a:p>
                    <a:p>
                      <a:pPr algn="l">
                        <a:defRPr/>
                      </a:pPr>
                      <a:r>
                        <a:rPr lang="ru-RU" altLang="ru-RU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(риски – 1 117,0 млн руб.)</a:t>
                      </a:r>
                      <a:endParaRPr lang="en-US" altLang="ru-RU" sz="2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23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1025097" y="210228"/>
            <a:ext cx="110395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. ИСПОЛНЕНИЕ АИП ПО СРЕДСТВАМ ПОЛУЧЕННЫМ ИЗ ФЕДЕРАЛЬНОГО БЮДЖЕТА ПО ОБЪЕКТАМ </a:t>
            </a:r>
            <a:r>
              <a:rPr lang="ru-RU" altLang="ru-RU" sz="2000" b="1" u="sng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ГОСУДАРСТВЕННОЙ 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СОБСТВЕННОСТИ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000016" y="1392045"/>
          <a:ext cx="11039583" cy="48941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839">
                  <a:extLst>
                    <a:ext uri="{9D8B030D-6E8A-4147-A177-3AD203B41FA5}">
                      <a16:colId xmlns:a16="http://schemas.microsoft.com/office/drawing/2014/main" val="1415375118"/>
                    </a:ext>
                  </a:extLst>
                </a:gridCol>
                <a:gridCol w="2643521">
                  <a:extLst>
                    <a:ext uri="{9D8B030D-6E8A-4147-A177-3AD203B41FA5}">
                      <a16:colId xmlns:a16="http://schemas.microsoft.com/office/drawing/2014/main" val="4239032692"/>
                    </a:ext>
                  </a:extLst>
                </a:gridCol>
                <a:gridCol w="883710">
                  <a:extLst>
                    <a:ext uri="{9D8B030D-6E8A-4147-A177-3AD203B41FA5}">
                      <a16:colId xmlns:a16="http://schemas.microsoft.com/office/drawing/2014/main" val="1762771331"/>
                    </a:ext>
                  </a:extLst>
                </a:gridCol>
                <a:gridCol w="883710">
                  <a:extLst>
                    <a:ext uri="{9D8B030D-6E8A-4147-A177-3AD203B41FA5}">
                      <a16:colId xmlns:a16="http://schemas.microsoft.com/office/drawing/2014/main" val="812004660"/>
                    </a:ext>
                  </a:extLst>
                </a:gridCol>
                <a:gridCol w="829328">
                  <a:extLst>
                    <a:ext uri="{9D8B030D-6E8A-4147-A177-3AD203B41FA5}">
                      <a16:colId xmlns:a16="http://schemas.microsoft.com/office/drawing/2014/main" val="1979612868"/>
                    </a:ext>
                  </a:extLst>
                </a:gridCol>
                <a:gridCol w="802137">
                  <a:extLst>
                    <a:ext uri="{9D8B030D-6E8A-4147-A177-3AD203B41FA5}">
                      <a16:colId xmlns:a16="http://schemas.microsoft.com/office/drawing/2014/main" val="1242604342"/>
                    </a:ext>
                  </a:extLst>
                </a:gridCol>
                <a:gridCol w="720563">
                  <a:extLst>
                    <a:ext uri="{9D8B030D-6E8A-4147-A177-3AD203B41FA5}">
                      <a16:colId xmlns:a16="http://schemas.microsoft.com/office/drawing/2014/main" val="3133633840"/>
                    </a:ext>
                  </a:extLst>
                </a:gridCol>
                <a:gridCol w="720563">
                  <a:extLst>
                    <a:ext uri="{9D8B030D-6E8A-4147-A177-3AD203B41FA5}">
                      <a16:colId xmlns:a16="http://schemas.microsoft.com/office/drawing/2014/main" val="679978181"/>
                    </a:ext>
                  </a:extLst>
                </a:gridCol>
                <a:gridCol w="842923">
                  <a:extLst>
                    <a:ext uri="{9D8B030D-6E8A-4147-A177-3AD203B41FA5}">
                      <a16:colId xmlns:a16="http://schemas.microsoft.com/office/drawing/2014/main" val="2617173688"/>
                    </a:ext>
                  </a:extLst>
                </a:gridCol>
                <a:gridCol w="775276">
                  <a:extLst>
                    <a:ext uri="{9D8B030D-6E8A-4147-A177-3AD203B41FA5}">
                      <a16:colId xmlns:a16="http://schemas.microsoft.com/office/drawing/2014/main" val="1933157894"/>
                    </a:ext>
                  </a:extLst>
                </a:gridCol>
                <a:gridCol w="1400013">
                  <a:extLst>
                    <a:ext uri="{9D8B030D-6E8A-4147-A177-3AD203B41FA5}">
                      <a16:colId xmlns:a16="http://schemas.microsoft.com/office/drawing/2014/main" val="912914995"/>
                    </a:ext>
                  </a:extLst>
                </a:gridCol>
              </a:tblGrid>
              <a:tr h="24735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п/п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исполнения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 отзыва 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Пояснения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958356"/>
                  </a:ext>
                </a:extLst>
              </a:tr>
              <a:tr h="49020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57530"/>
                  </a:ext>
                </a:extLst>
              </a:tr>
              <a:tr h="24735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947520"/>
                  </a:ext>
                </a:extLst>
              </a:tr>
              <a:tr h="247351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1 039,2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6 797,9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7 837,1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248,2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446,6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694,8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8,9%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6 253,8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999303"/>
                  </a:ext>
                </a:extLst>
              </a:tr>
              <a:tr h="247351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1 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ДОРОЖНОЕ ХОЗЯЙСТВО (Минтранс</a:t>
                      </a:r>
                      <a:r>
                        <a:rPr lang="ru-RU" sz="16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2 261,8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2 261,8</a:t>
                      </a: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2 261,8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912406"/>
                  </a:ext>
                </a:extLst>
              </a:tr>
              <a:tr h="737558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Дорога «Москва - Санкт-Петербург» -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Чуприяновка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Старый Погост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261,8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261,8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261,8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работы по объекту с 2019 г. не ведутся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942390"/>
                  </a:ext>
                </a:extLst>
              </a:tr>
              <a:tr h="1003392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Строительство мостового перехода через реку Волга в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г.Твери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(Западный мост) </a:t>
                      </a:r>
                    </a:p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(в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т.ч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ПИР)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2 000,0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2 000,0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2 000,0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 контракта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991416"/>
                  </a:ext>
                </a:extLst>
              </a:tr>
              <a:tr h="44233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ЖКХ (Минстрой)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46,3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26,9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91,1%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666065"/>
                  </a:ext>
                </a:extLst>
              </a:tr>
              <a:tr h="982662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Первый этап реконструкции канализационных очистных сооружений г. Конаково Тверской области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46,3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91,1%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требуется восстановление средств ФБ за 2020 год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0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93349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96399" y="6380058"/>
            <a:ext cx="2743200" cy="365125"/>
          </a:xfrm>
        </p:spPr>
        <p:txBody>
          <a:bodyPr/>
          <a:lstStyle/>
          <a:p>
            <a:fld id="{FA0E902D-E5D9-4990-A5FF-8599B2B31D15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0962956" y="918114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 руб.</a:t>
            </a:r>
          </a:p>
        </p:txBody>
      </p:sp>
      <p:pic>
        <p:nvPicPr>
          <p:cNvPr id="8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0" name="Овал 9"/>
          <p:cNvSpPr/>
          <p:nvPr/>
        </p:nvSpPr>
        <p:spPr>
          <a:xfrm>
            <a:off x="3907885" y="3405774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3907885" y="4335673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3907885" y="5859673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849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1000016" y="172165"/>
            <a:ext cx="110395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spcBef>
                <a:spcPct val="0"/>
              </a:spcBef>
              <a:defRPr/>
            </a:pPr>
            <a:r>
              <a:rPr lang="en-US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. ИСПОЛНЕНИЕ АИП ПО СРЕДСТВАМ ПОЛУЧЕННЫМ ИЗ ФЕДЕРАЛЬНОГО БЮДЖЕТА ПО ОБЪЕКТАМ </a:t>
            </a:r>
            <a:r>
              <a:rPr lang="ru-RU" altLang="ru-RU" sz="2000" b="1" u="sng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ГОСУДАРСТВЕННОЙ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 СОБСТВЕННОСТИ (продолжение)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000017" y="1142973"/>
          <a:ext cx="10937063" cy="54160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2844">
                  <a:extLst>
                    <a:ext uri="{9D8B030D-6E8A-4147-A177-3AD203B41FA5}">
                      <a16:colId xmlns:a16="http://schemas.microsoft.com/office/drawing/2014/main" val="1415375118"/>
                    </a:ext>
                  </a:extLst>
                </a:gridCol>
                <a:gridCol w="2742431">
                  <a:extLst>
                    <a:ext uri="{9D8B030D-6E8A-4147-A177-3AD203B41FA5}">
                      <a16:colId xmlns:a16="http://schemas.microsoft.com/office/drawing/2014/main" val="4239032692"/>
                    </a:ext>
                  </a:extLst>
                </a:gridCol>
                <a:gridCol w="668750">
                  <a:extLst>
                    <a:ext uri="{9D8B030D-6E8A-4147-A177-3AD203B41FA5}">
                      <a16:colId xmlns:a16="http://schemas.microsoft.com/office/drawing/2014/main" val="1762771331"/>
                    </a:ext>
                  </a:extLst>
                </a:gridCol>
                <a:gridCol w="775114">
                  <a:extLst>
                    <a:ext uri="{9D8B030D-6E8A-4147-A177-3AD203B41FA5}">
                      <a16:colId xmlns:a16="http://schemas.microsoft.com/office/drawing/2014/main" val="812004660"/>
                    </a:ext>
                  </a:extLst>
                </a:gridCol>
                <a:gridCol w="698269">
                  <a:extLst>
                    <a:ext uri="{9D8B030D-6E8A-4147-A177-3AD203B41FA5}">
                      <a16:colId xmlns:a16="http://schemas.microsoft.com/office/drawing/2014/main" val="1979612868"/>
                    </a:ext>
                  </a:extLst>
                </a:gridCol>
                <a:gridCol w="623456">
                  <a:extLst>
                    <a:ext uri="{9D8B030D-6E8A-4147-A177-3AD203B41FA5}">
                      <a16:colId xmlns:a16="http://schemas.microsoft.com/office/drawing/2014/main" val="1242604342"/>
                    </a:ext>
                  </a:extLst>
                </a:gridCol>
                <a:gridCol w="623456">
                  <a:extLst>
                    <a:ext uri="{9D8B030D-6E8A-4147-A177-3AD203B41FA5}">
                      <a16:colId xmlns:a16="http://schemas.microsoft.com/office/drawing/2014/main" val="3133633840"/>
                    </a:ext>
                  </a:extLst>
                </a:gridCol>
                <a:gridCol w="623456">
                  <a:extLst>
                    <a:ext uri="{9D8B030D-6E8A-4147-A177-3AD203B41FA5}">
                      <a16:colId xmlns:a16="http://schemas.microsoft.com/office/drawing/2014/main" val="679978181"/>
                    </a:ext>
                  </a:extLst>
                </a:gridCol>
                <a:gridCol w="665018">
                  <a:extLst>
                    <a:ext uri="{9D8B030D-6E8A-4147-A177-3AD203B41FA5}">
                      <a16:colId xmlns:a16="http://schemas.microsoft.com/office/drawing/2014/main" val="2617173688"/>
                    </a:ext>
                  </a:extLst>
                </a:gridCol>
                <a:gridCol w="700284">
                  <a:extLst>
                    <a:ext uri="{9D8B030D-6E8A-4147-A177-3AD203B41FA5}">
                      <a16:colId xmlns:a16="http://schemas.microsoft.com/office/drawing/2014/main" val="1933157894"/>
                    </a:ext>
                  </a:extLst>
                </a:gridCol>
                <a:gridCol w="2283985">
                  <a:extLst>
                    <a:ext uri="{9D8B030D-6E8A-4147-A177-3AD203B41FA5}">
                      <a16:colId xmlns:a16="http://schemas.microsoft.com/office/drawing/2014/main" val="912914995"/>
                    </a:ext>
                  </a:extLst>
                </a:gridCol>
              </a:tblGrid>
              <a:tr h="24091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п/п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исполнения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 отзыва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Пояснения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958356"/>
                  </a:ext>
                </a:extLst>
              </a:tr>
              <a:tr h="47745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57530"/>
                  </a:ext>
                </a:extLst>
              </a:tr>
              <a:tr h="24091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947520"/>
                  </a:ext>
                </a:extLst>
              </a:tr>
              <a:tr h="43189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ЗДРАВООХРАНЕНИЕ (Минстрой)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695,6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3 561,0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4 256,6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3 561,0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087835"/>
                  </a:ext>
                </a:extLst>
              </a:tr>
              <a:tr h="479645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Строительство </a:t>
                      </a:r>
                    </a:p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Бежецкой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ЦРБ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107,1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107,1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отсутствие объекта в ФАИП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579488"/>
                  </a:ext>
                </a:extLst>
              </a:tr>
              <a:tr h="718373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Реновация (строительство) / реконструкция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Бологовской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ЦРБ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59,4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59,4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отраслевого </a:t>
                      </a:r>
                      <a:r>
                        <a:rPr lang="ru-RU" sz="160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техзадания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063824"/>
                  </a:ext>
                </a:extLst>
              </a:tr>
              <a:tr h="718373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Строительство детской областной клинической больницы в г. Твери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597,3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2 722,9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3 320,2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2 722,9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работы ведутся с отставанием от графика, увеличение стоимости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82200"/>
                  </a:ext>
                </a:extLst>
              </a:tr>
              <a:tr h="479645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Строительство детской поликлиники в г. Твери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187,6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167,9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увеличение стоимости (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Миноборона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769493"/>
                  </a:ext>
                </a:extLst>
              </a:tr>
              <a:tr h="511736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Строительство детской поликлиники №1 в г. Кимры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187,6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увеличение стоимости (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Миноборона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274627"/>
                  </a:ext>
                </a:extLst>
              </a:tr>
              <a:tr h="5399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Строительство детской поликлиники №2 в г. Кимры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187,6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167,9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увеличение стоимости (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Миноборона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287597"/>
                  </a:ext>
                </a:extLst>
              </a:tr>
              <a:tr h="479645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Строительство детской поликлиники в г. Торжке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187,6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10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167,9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увеличение стоимости (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Миноборона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594889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9397941" y="6477377"/>
            <a:ext cx="2743200" cy="365125"/>
          </a:xfrm>
        </p:spPr>
        <p:txBody>
          <a:bodyPr/>
          <a:lstStyle/>
          <a:p>
            <a:fld id="{FA0E902D-E5D9-4990-A5FF-8599B2B31D15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10962956" y="782181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 руб.</a:t>
            </a: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1" name="Овал 10"/>
          <p:cNvSpPr/>
          <p:nvPr/>
        </p:nvSpPr>
        <p:spPr>
          <a:xfrm>
            <a:off x="3993125" y="2716099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3993125" y="3328283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3993125" y="4010209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3993125" y="4692135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3993125" y="5194061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3993125" y="5696543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3993125" y="6199025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711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1000016" y="172165"/>
            <a:ext cx="110395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spcBef>
                <a:spcPct val="0"/>
              </a:spcBef>
              <a:defRPr/>
            </a:pPr>
            <a:r>
              <a:rPr lang="en-US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. ИСПОЛНЕНИЕ АИП ПО СРЕДСТВАМ ПОЛУЧЕННЫМ ИЗ ФЕДЕРАЛЬНОГО БЮДЖЕТА ПО ОБЪЕКТАМ </a:t>
            </a:r>
            <a:r>
              <a:rPr lang="ru-RU" altLang="ru-RU" sz="2000" b="1" u="sng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ГОСУДАРСТВЕННОЙ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 СОБСТВЕННОСТИ (продолжение)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000017" y="1324800"/>
          <a:ext cx="11039582" cy="51967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839">
                  <a:extLst>
                    <a:ext uri="{9D8B030D-6E8A-4147-A177-3AD203B41FA5}">
                      <a16:colId xmlns:a16="http://schemas.microsoft.com/office/drawing/2014/main" val="1415375118"/>
                    </a:ext>
                  </a:extLst>
                </a:gridCol>
                <a:gridCol w="2701636">
                  <a:extLst>
                    <a:ext uri="{9D8B030D-6E8A-4147-A177-3AD203B41FA5}">
                      <a16:colId xmlns:a16="http://schemas.microsoft.com/office/drawing/2014/main" val="4239032692"/>
                    </a:ext>
                  </a:extLst>
                </a:gridCol>
                <a:gridCol w="825595">
                  <a:extLst>
                    <a:ext uri="{9D8B030D-6E8A-4147-A177-3AD203B41FA5}">
                      <a16:colId xmlns:a16="http://schemas.microsoft.com/office/drawing/2014/main" val="1762771331"/>
                    </a:ext>
                  </a:extLst>
                </a:gridCol>
                <a:gridCol w="883710">
                  <a:extLst>
                    <a:ext uri="{9D8B030D-6E8A-4147-A177-3AD203B41FA5}">
                      <a16:colId xmlns:a16="http://schemas.microsoft.com/office/drawing/2014/main" val="812004660"/>
                    </a:ext>
                  </a:extLst>
                </a:gridCol>
                <a:gridCol w="829328">
                  <a:extLst>
                    <a:ext uri="{9D8B030D-6E8A-4147-A177-3AD203B41FA5}">
                      <a16:colId xmlns:a16="http://schemas.microsoft.com/office/drawing/2014/main" val="1979612868"/>
                    </a:ext>
                  </a:extLst>
                </a:gridCol>
                <a:gridCol w="802137">
                  <a:extLst>
                    <a:ext uri="{9D8B030D-6E8A-4147-A177-3AD203B41FA5}">
                      <a16:colId xmlns:a16="http://schemas.microsoft.com/office/drawing/2014/main" val="1242604342"/>
                    </a:ext>
                  </a:extLst>
                </a:gridCol>
                <a:gridCol w="720563">
                  <a:extLst>
                    <a:ext uri="{9D8B030D-6E8A-4147-A177-3AD203B41FA5}">
                      <a16:colId xmlns:a16="http://schemas.microsoft.com/office/drawing/2014/main" val="3133633840"/>
                    </a:ext>
                  </a:extLst>
                </a:gridCol>
                <a:gridCol w="720563">
                  <a:extLst>
                    <a:ext uri="{9D8B030D-6E8A-4147-A177-3AD203B41FA5}">
                      <a16:colId xmlns:a16="http://schemas.microsoft.com/office/drawing/2014/main" val="679978181"/>
                    </a:ext>
                  </a:extLst>
                </a:gridCol>
                <a:gridCol w="842922">
                  <a:extLst>
                    <a:ext uri="{9D8B030D-6E8A-4147-A177-3AD203B41FA5}">
                      <a16:colId xmlns:a16="http://schemas.microsoft.com/office/drawing/2014/main" val="2617173688"/>
                    </a:ext>
                  </a:extLst>
                </a:gridCol>
                <a:gridCol w="751043">
                  <a:extLst>
                    <a:ext uri="{9D8B030D-6E8A-4147-A177-3AD203B41FA5}">
                      <a16:colId xmlns:a16="http://schemas.microsoft.com/office/drawing/2014/main" val="1933157894"/>
                    </a:ext>
                  </a:extLst>
                </a:gridCol>
                <a:gridCol w="1424246">
                  <a:extLst>
                    <a:ext uri="{9D8B030D-6E8A-4147-A177-3AD203B41FA5}">
                      <a16:colId xmlns:a16="http://schemas.microsoft.com/office/drawing/2014/main" val="912914995"/>
                    </a:ext>
                  </a:extLst>
                </a:gridCol>
              </a:tblGrid>
              <a:tr h="23518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п/п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исполнения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 отзыва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Пояснения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958356"/>
                  </a:ext>
                </a:extLst>
              </a:tr>
              <a:tr h="46609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57530"/>
                  </a:ext>
                </a:extLst>
              </a:tr>
              <a:tr h="23518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947520"/>
                  </a:ext>
                </a:extLst>
              </a:tr>
              <a:tr h="23518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ОБРАЗОВАНИЕ (Минстрой)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231,9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321,9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553,8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157,6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163,5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29,5%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316,0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595614"/>
                  </a:ext>
                </a:extLst>
              </a:tr>
              <a:tr h="701274">
                <a:tc>
                  <a:txBody>
                    <a:bodyPr/>
                    <a:lstStyle/>
                    <a:p>
                      <a:pPr algn="ctr" fontAlgn="t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Строительство СОШ на 1224 места в микрорайоне «Южный» города Твери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231,9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553,8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16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157,6</a:t>
                      </a:r>
                    </a:p>
                    <a:p>
                      <a:pPr algn="r" fontAlgn="ctr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163,5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29,5%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r" fontAlgn="ctr"/>
                      <a:r>
                        <a:rPr lang="ru-RU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316,0</a:t>
                      </a:r>
                    </a:p>
                    <a:p>
                      <a:pPr algn="r" fontAlgn="ctr"/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увеличение стоимости (</a:t>
                      </a:r>
                      <a:r>
                        <a:rPr lang="ru-RU" sz="160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Миноборона</a:t>
                      </a:r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500666"/>
                  </a:ext>
                </a:extLst>
              </a:tr>
              <a:tr h="23518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ТУРИЗМ (Минтранс)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95,2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595,2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60,4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317,1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377,5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63,4%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792005"/>
                  </a:ext>
                </a:extLst>
              </a:tr>
              <a:tr h="1633458">
                <a:tc>
                  <a:txBody>
                    <a:bodyPr/>
                    <a:lstStyle/>
                    <a:p>
                      <a:pPr algn="ctr" fontAlgn="t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Комплекс обеспечивающей инфраструктуры туристско-рекреационного кластера «Волжское море» для обслуживания туристических судов в устьевом участке р. Шоша (1-3 этапы)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95,2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595,2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60,4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317,1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377,5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63,4%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6,7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экономия в рамках заключенных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госконтрактов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721718"/>
                  </a:ext>
                </a:extLst>
              </a:tr>
              <a:tr h="46822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ФИЗИЧЕСКАЯ КУЛЬТУРА И СПОРТ (Минстрой)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108,3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123,4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108,3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111,6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90,4%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108,3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740147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fontAlgn="t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Крытый футбольный манеж в г. Твери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108,3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123,4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108,3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111,6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90,4%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108,3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увеличение стоимости (</a:t>
                      </a:r>
                      <a:r>
                        <a:rPr lang="ru-RU" sz="160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Миноборона</a:t>
                      </a:r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389696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9296399" y="6459607"/>
            <a:ext cx="2743200" cy="365125"/>
          </a:xfrm>
        </p:spPr>
        <p:txBody>
          <a:bodyPr/>
          <a:lstStyle/>
          <a:p>
            <a:fld id="{FA0E902D-E5D9-4990-A5FF-8599B2B31D15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10962956" y="782181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 руб.</a:t>
            </a: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1" name="Овал 10"/>
          <p:cNvSpPr/>
          <p:nvPr/>
        </p:nvSpPr>
        <p:spPr>
          <a:xfrm>
            <a:off x="3993125" y="2847837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3993125" y="6086982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421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1000016" y="172165"/>
            <a:ext cx="110395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spcBef>
                <a:spcPct val="0"/>
              </a:spcBef>
              <a:defRPr/>
            </a:pPr>
            <a:r>
              <a:rPr lang="en-US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. ИСПОЛНЕНИЕ АИП ПО СРЕДСТВАМ ПОЛУЧЕННЫМ ИЗ ФЕДЕРАЛЬНОГО БЮДЖЕТА ПО ОБЪЕКТАМ </a:t>
            </a:r>
            <a:r>
              <a:rPr lang="ru-RU" altLang="ru-RU" sz="2000" b="1" u="sng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МУНИЦИПАЛЬНОЙ 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СОБСТВЕННОСТИ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769172"/>
              </p:ext>
            </p:extLst>
          </p:nvPr>
        </p:nvGraphicFramePr>
        <p:xfrm>
          <a:off x="1002505" y="1048653"/>
          <a:ext cx="11039584" cy="53276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839">
                  <a:extLst>
                    <a:ext uri="{9D8B030D-6E8A-4147-A177-3AD203B41FA5}">
                      <a16:colId xmlns:a16="http://schemas.microsoft.com/office/drawing/2014/main" val="1415375118"/>
                    </a:ext>
                  </a:extLst>
                </a:gridCol>
                <a:gridCol w="2701637">
                  <a:extLst>
                    <a:ext uri="{9D8B030D-6E8A-4147-A177-3AD203B41FA5}">
                      <a16:colId xmlns:a16="http://schemas.microsoft.com/office/drawing/2014/main" val="4239032692"/>
                    </a:ext>
                  </a:extLst>
                </a:gridCol>
                <a:gridCol w="825595">
                  <a:extLst>
                    <a:ext uri="{9D8B030D-6E8A-4147-A177-3AD203B41FA5}">
                      <a16:colId xmlns:a16="http://schemas.microsoft.com/office/drawing/2014/main" val="1762771331"/>
                    </a:ext>
                  </a:extLst>
                </a:gridCol>
                <a:gridCol w="883710">
                  <a:extLst>
                    <a:ext uri="{9D8B030D-6E8A-4147-A177-3AD203B41FA5}">
                      <a16:colId xmlns:a16="http://schemas.microsoft.com/office/drawing/2014/main" val="812004660"/>
                    </a:ext>
                  </a:extLst>
                </a:gridCol>
                <a:gridCol w="829328">
                  <a:extLst>
                    <a:ext uri="{9D8B030D-6E8A-4147-A177-3AD203B41FA5}">
                      <a16:colId xmlns:a16="http://schemas.microsoft.com/office/drawing/2014/main" val="1979612868"/>
                    </a:ext>
                  </a:extLst>
                </a:gridCol>
                <a:gridCol w="802137">
                  <a:extLst>
                    <a:ext uri="{9D8B030D-6E8A-4147-A177-3AD203B41FA5}">
                      <a16:colId xmlns:a16="http://schemas.microsoft.com/office/drawing/2014/main" val="1242604342"/>
                    </a:ext>
                  </a:extLst>
                </a:gridCol>
                <a:gridCol w="720563">
                  <a:extLst>
                    <a:ext uri="{9D8B030D-6E8A-4147-A177-3AD203B41FA5}">
                      <a16:colId xmlns:a16="http://schemas.microsoft.com/office/drawing/2014/main" val="3133633840"/>
                    </a:ext>
                  </a:extLst>
                </a:gridCol>
                <a:gridCol w="720563">
                  <a:extLst>
                    <a:ext uri="{9D8B030D-6E8A-4147-A177-3AD203B41FA5}">
                      <a16:colId xmlns:a16="http://schemas.microsoft.com/office/drawing/2014/main" val="679978181"/>
                    </a:ext>
                  </a:extLst>
                </a:gridCol>
                <a:gridCol w="842923">
                  <a:extLst>
                    <a:ext uri="{9D8B030D-6E8A-4147-A177-3AD203B41FA5}">
                      <a16:colId xmlns:a16="http://schemas.microsoft.com/office/drawing/2014/main" val="2617173688"/>
                    </a:ext>
                  </a:extLst>
                </a:gridCol>
                <a:gridCol w="800920">
                  <a:extLst>
                    <a:ext uri="{9D8B030D-6E8A-4147-A177-3AD203B41FA5}">
                      <a16:colId xmlns:a16="http://schemas.microsoft.com/office/drawing/2014/main" val="1933157894"/>
                    </a:ext>
                  </a:extLst>
                </a:gridCol>
                <a:gridCol w="1374369">
                  <a:extLst>
                    <a:ext uri="{9D8B030D-6E8A-4147-A177-3AD203B41FA5}">
                      <a16:colId xmlns:a16="http://schemas.microsoft.com/office/drawing/2014/main" val="912914995"/>
                    </a:ext>
                  </a:extLst>
                </a:gridCol>
              </a:tblGrid>
              <a:tr h="24534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п/п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исполнения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 отзыва</a:t>
                      </a:r>
                      <a:endParaRPr lang="ru-RU" dirty="0"/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Пояснения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958356"/>
                  </a:ext>
                </a:extLst>
              </a:tr>
              <a:tr h="4862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57530"/>
                  </a:ext>
                </a:extLst>
              </a:tr>
              <a:tr h="24534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947520"/>
                  </a:ext>
                </a:extLst>
              </a:tr>
              <a:tr h="335007">
                <a:tc>
                  <a:txBody>
                    <a:bodyPr/>
                    <a:lstStyle/>
                    <a:p>
                      <a:pPr algn="ctr" fontAlgn="ctr"/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191,3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780,5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971,8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169,3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354,3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523,6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88,1%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130,5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473558"/>
                  </a:ext>
                </a:extLst>
              </a:tr>
              <a:tr h="24534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1 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ГАЗОВОЕ ХОЗЯЙСТВО (Минсельхоз)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89,7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104,7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6,8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36,0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42,8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40,9%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185689"/>
                  </a:ext>
                </a:extLst>
              </a:tr>
              <a:tr h="1217781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Газоснабжение д. Бор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Шкени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д. Кушалино, д. Плотники, с. Белое, д.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Савельево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Сукроменского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сельского поселения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Бежецкого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района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69,7%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экономия по торгам (объект введен в эксплуатацию)</a:t>
                      </a:r>
                    </a:p>
                    <a:p>
                      <a:pPr algn="l" fontAlgn="ctr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628533"/>
                  </a:ext>
                </a:extLst>
              </a:tr>
              <a:tr h="1217781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</a:p>
                    <a:p>
                      <a:pPr algn="ctr" fontAlgn="t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Комплексное обустройство площадки под компактную жилищную застройку в с. Дмитрова гора Конаковского района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74,6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34,1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45,7%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62604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Газоснабжение д.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Костерёво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д.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Есёмово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сельского поселения «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Хорошево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 Ржевского района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распределение утверждено 14.09.2021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846029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FA0E902D-E5D9-4990-A5FF-8599B2B31D15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10937875" y="720376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 руб.</a:t>
            </a: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1" name="Овал 10"/>
          <p:cNvSpPr/>
          <p:nvPr/>
        </p:nvSpPr>
        <p:spPr>
          <a:xfrm>
            <a:off x="3931132" y="5738270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709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1000016" y="172165"/>
            <a:ext cx="110395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spcBef>
                <a:spcPct val="0"/>
              </a:spcBef>
              <a:defRPr/>
            </a:pPr>
            <a:r>
              <a:rPr lang="en-US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. ИСПОЛНЕНИЕ АИП ПО СРЕДСТВАМ ПОЛУЧЕННЫМ ИЗ ФЕДЕРАЛЬНОГО БЮДЖЕТА ПО ОБЪЕКТАМ </a:t>
            </a:r>
            <a:r>
              <a:rPr lang="ru-RU" altLang="ru-RU" sz="2000" b="1" u="sng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МУНИЦИПАЛЬНОЙ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 СОБСТВЕННОСТИ (продолжение)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645035"/>
              </p:ext>
            </p:extLst>
          </p:nvPr>
        </p:nvGraphicFramePr>
        <p:xfrm>
          <a:off x="1000017" y="1110646"/>
          <a:ext cx="11039583" cy="53861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023">
                  <a:extLst>
                    <a:ext uri="{9D8B030D-6E8A-4147-A177-3AD203B41FA5}">
                      <a16:colId xmlns:a16="http://schemas.microsoft.com/office/drawing/2014/main" val="1415375118"/>
                    </a:ext>
                  </a:extLst>
                </a:gridCol>
                <a:gridCol w="2635135">
                  <a:extLst>
                    <a:ext uri="{9D8B030D-6E8A-4147-A177-3AD203B41FA5}">
                      <a16:colId xmlns:a16="http://schemas.microsoft.com/office/drawing/2014/main" val="423903269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6277133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812004660"/>
                    </a:ext>
                  </a:extLst>
                </a:gridCol>
                <a:gridCol w="906087">
                  <a:extLst>
                    <a:ext uri="{9D8B030D-6E8A-4147-A177-3AD203B41FA5}">
                      <a16:colId xmlns:a16="http://schemas.microsoft.com/office/drawing/2014/main" val="197961286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1242604342"/>
                    </a:ext>
                  </a:extLst>
                </a:gridCol>
                <a:gridCol w="673331">
                  <a:extLst>
                    <a:ext uri="{9D8B030D-6E8A-4147-A177-3AD203B41FA5}">
                      <a16:colId xmlns:a16="http://schemas.microsoft.com/office/drawing/2014/main" val="3133633840"/>
                    </a:ext>
                  </a:extLst>
                </a:gridCol>
                <a:gridCol w="673331">
                  <a:extLst>
                    <a:ext uri="{9D8B030D-6E8A-4147-A177-3AD203B41FA5}">
                      <a16:colId xmlns:a16="http://schemas.microsoft.com/office/drawing/2014/main" val="679978181"/>
                    </a:ext>
                  </a:extLst>
                </a:gridCol>
                <a:gridCol w="798021">
                  <a:extLst>
                    <a:ext uri="{9D8B030D-6E8A-4147-A177-3AD203B41FA5}">
                      <a16:colId xmlns:a16="http://schemas.microsoft.com/office/drawing/2014/main" val="2617173688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1933157894"/>
                    </a:ext>
                  </a:extLst>
                </a:gridCol>
                <a:gridCol w="1914698">
                  <a:extLst>
                    <a:ext uri="{9D8B030D-6E8A-4147-A177-3AD203B41FA5}">
                      <a16:colId xmlns:a16="http://schemas.microsoft.com/office/drawing/2014/main" val="912914995"/>
                    </a:ext>
                  </a:extLst>
                </a:gridCol>
              </a:tblGrid>
              <a:tr h="25438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п/п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исполнения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 отзыва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Пояснения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958356"/>
                  </a:ext>
                </a:extLst>
              </a:tr>
              <a:tr h="34738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57530"/>
                  </a:ext>
                </a:extLst>
              </a:tr>
              <a:tr h="25438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947520"/>
                  </a:ext>
                </a:extLst>
              </a:tr>
              <a:tr h="492035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КОММУНАЛЬНОЕ ХОЗЯЙСТВО (Минэнерго)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383,0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392,6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101,1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165,0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266,1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67,8%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333395"/>
                  </a:ext>
                </a:extLst>
              </a:tr>
              <a:tr h="1142957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Строительство  биологических очистных сооружений г. Старица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нет</a:t>
                      </a:r>
                      <a:r>
                        <a:rPr lang="ru-RU" sz="1600" u="none" strike="noStrike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объекта в соглашении с Минстроем РФ, увеличение стоимости в 5 раз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342477"/>
                  </a:ext>
                </a:extLst>
              </a:tr>
              <a:tr h="909786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Реконструкция блока биологической очистки очистных сооружений канализации г. Твери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285,4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292,5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97,1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162,0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259,1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88,6%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требуется восстановление средств ФБ за 2020 год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460707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Модернизация нитки водо-вода от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Тверецкого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водо-забора до дюкера Восточного моста с Ду600 на Ду800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8,3%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037855"/>
                  </a:ext>
                </a:extLst>
              </a:tr>
              <a:tr h="25438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ОБРАЗОВАНИЕ (Минстрой)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159,2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295,0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454,2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55,0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141,7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196,7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43,3%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101,2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869296"/>
                  </a:ext>
                </a:extLst>
              </a:tr>
              <a:tr h="698851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Строительство детского сада на 80 мест в с.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Бурашево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Калининского района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26,6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9,7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36,3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26,5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9,7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36,2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99,7%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ct val="90000"/>
                        </a:lnSpc>
                      </a:pP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90000"/>
                        </a:lnSpc>
                      </a:pP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743847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FA0E902D-E5D9-4990-A5FF-8599B2B31D15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10962956" y="782181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 руб.</a:t>
            </a: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1" name="Овал 10"/>
          <p:cNvSpPr/>
          <p:nvPr/>
        </p:nvSpPr>
        <p:spPr>
          <a:xfrm>
            <a:off x="3838141" y="3072560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3811224" y="4100615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440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1000016" y="227542"/>
            <a:ext cx="110395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spcBef>
                <a:spcPct val="0"/>
              </a:spcBef>
              <a:defRPr/>
            </a:pPr>
            <a:r>
              <a:rPr lang="en-US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. ИСПОЛНЕНИЕ АИП ПО СРЕДСТВАМ ПОЛУЧЕННЫМ ИЗ ФЕДЕРАЛЬНОГО БЮДЖЕТА ПО ОБЪЕКТАМ </a:t>
            </a:r>
            <a:r>
              <a:rPr lang="ru-RU" altLang="ru-RU" sz="2000" b="1" u="sng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МУНИЦИПАЛЬНОЙ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 СОБСТВЕННОСТИ (продолжение)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019128" y="1462706"/>
          <a:ext cx="11039583" cy="44437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839">
                  <a:extLst>
                    <a:ext uri="{9D8B030D-6E8A-4147-A177-3AD203B41FA5}">
                      <a16:colId xmlns:a16="http://schemas.microsoft.com/office/drawing/2014/main" val="1415375118"/>
                    </a:ext>
                  </a:extLst>
                </a:gridCol>
                <a:gridCol w="2701636">
                  <a:extLst>
                    <a:ext uri="{9D8B030D-6E8A-4147-A177-3AD203B41FA5}">
                      <a16:colId xmlns:a16="http://schemas.microsoft.com/office/drawing/2014/main" val="4239032692"/>
                    </a:ext>
                  </a:extLst>
                </a:gridCol>
                <a:gridCol w="825595">
                  <a:extLst>
                    <a:ext uri="{9D8B030D-6E8A-4147-A177-3AD203B41FA5}">
                      <a16:colId xmlns:a16="http://schemas.microsoft.com/office/drawing/2014/main" val="1762771331"/>
                    </a:ext>
                  </a:extLst>
                </a:gridCol>
                <a:gridCol w="883710">
                  <a:extLst>
                    <a:ext uri="{9D8B030D-6E8A-4147-A177-3AD203B41FA5}">
                      <a16:colId xmlns:a16="http://schemas.microsoft.com/office/drawing/2014/main" val="812004660"/>
                    </a:ext>
                  </a:extLst>
                </a:gridCol>
                <a:gridCol w="829328">
                  <a:extLst>
                    <a:ext uri="{9D8B030D-6E8A-4147-A177-3AD203B41FA5}">
                      <a16:colId xmlns:a16="http://schemas.microsoft.com/office/drawing/2014/main" val="1979612868"/>
                    </a:ext>
                  </a:extLst>
                </a:gridCol>
                <a:gridCol w="802137">
                  <a:extLst>
                    <a:ext uri="{9D8B030D-6E8A-4147-A177-3AD203B41FA5}">
                      <a16:colId xmlns:a16="http://schemas.microsoft.com/office/drawing/2014/main" val="1242604342"/>
                    </a:ext>
                  </a:extLst>
                </a:gridCol>
                <a:gridCol w="720563">
                  <a:extLst>
                    <a:ext uri="{9D8B030D-6E8A-4147-A177-3AD203B41FA5}">
                      <a16:colId xmlns:a16="http://schemas.microsoft.com/office/drawing/2014/main" val="3133633840"/>
                    </a:ext>
                  </a:extLst>
                </a:gridCol>
                <a:gridCol w="720563">
                  <a:extLst>
                    <a:ext uri="{9D8B030D-6E8A-4147-A177-3AD203B41FA5}">
                      <a16:colId xmlns:a16="http://schemas.microsoft.com/office/drawing/2014/main" val="679978181"/>
                    </a:ext>
                  </a:extLst>
                </a:gridCol>
                <a:gridCol w="842923">
                  <a:extLst>
                    <a:ext uri="{9D8B030D-6E8A-4147-A177-3AD203B41FA5}">
                      <a16:colId xmlns:a16="http://schemas.microsoft.com/office/drawing/2014/main" val="2617173688"/>
                    </a:ext>
                  </a:extLst>
                </a:gridCol>
                <a:gridCol w="883710">
                  <a:extLst>
                    <a:ext uri="{9D8B030D-6E8A-4147-A177-3AD203B41FA5}">
                      <a16:colId xmlns:a16="http://schemas.microsoft.com/office/drawing/2014/main" val="1933157894"/>
                    </a:ext>
                  </a:extLst>
                </a:gridCol>
                <a:gridCol w="1291579">
                  <a:extLst>
                    <a:ext uri="{9D8B030D-6E8A-4147-A177-3AD203B41FA5}">
                      <a16:colId xmlns:a16="http://schemas.microsoft.com/office/drawing/2014/main" val="912914995"/>
                    </a:ext>
                  </a:extLst>
                </a:gridCol>
              </a:tblGrid>
              <a:tr h="24735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п/п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исполнения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 отзыва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Пояснения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958356"/>
                  </a:ext>
                </a:extLst>
              </a:tr>
              <a:tr h="49020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57530"/>
                  </a:ext>
                </a:extLst>
              </a:tr>
              <a:tr h="24735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94752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Детский сад на 150 мест, г. Тверь, по ул. Планерная- 1-й пер. Вагонников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29,1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58,1%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182399"/>
                  </a:ext>
                </a:extLst>
              </a:tr>
              <a:tr h="982662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Детский сад в г. Тверь, Московский район, микрорайон «Южный», </a:t>
                      </a:r>
                    </a:p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ул. Левитана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117,5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159,4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27,2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17,5%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43,3</a:t>
                      </a: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отставание от графика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822106"/>
                  </a:ext>
                </a:extLst>
              </a:tr>
              <a:tr h="737558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Детский сад на 190 мест, </a:t>
                      </a:r>
                    </a:p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г. Тверь, Московский район,     ул.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Склизкова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40,2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68,4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108,6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63,3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71,8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66,1%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636220"/>
                  </a:ext>
                </a:extLst>
              </a:tr>
              <a:tr h="982662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Детский сад на 160 мест по адресу: Тверская область, город Вышний Волочек, </a:t>
                      </a:r>
                    </a:p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ул.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Бутягина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120,8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40,8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36,3%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57,9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увеличение стоимости (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Миноборона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algn="l" fontAlgn="ctr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557399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FA0E902D-E5D9-4990-A5FF-8599B2B31D15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10937875" y="1014123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 руб.</a:t>
            </a: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11" name="Овал 10"/>
          <p:cNvSpPr/>
          <p:nvPr/>
        </p:nvSpPr>
        <p:spPr>
          <a:xfrm>
            <a:off x="4000874" y="3504601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4000874" y="5288819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464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1000016" y="186679"/>
            <a:ext cx="110395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spcBef>
                <a:spcPct val="0"/>
              </a:spcBef>
              <a:defRPr/>
            </a:pPr>
            <a:r>
              <a:rPr lang="en-US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. ИСПОЛНЕНИЕ АИП ПО СРЕДСТВАМ ПОЛУЧЕННЫМ ИЗ ФЕДЕРАЛЬНОГО БЮДЖЕТА ПО ОБЪЕКТАМ </a:t>
            </a:r>
            <a:r>
              <a:rPr lang="ru-RU" altLang="ru-RU" sz="2000" b="1" u="sng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МУНИЦИПАЛЬНОЙ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 СОБСТВЕННОСТИ (продолжение)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000015" y="1599532"/>
          <a:ext cx="11039583" cy="46653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839">
                  <a:extLst>
                    <a:ext uri="{9D8B030D-6E8A-4147-A177-3AD203B41FA5}">
                      <a16:colId xmlns:a16="http://schemas.microsoft.com/office/drawing/2014/main" val="1415375118"/>
                    </a:ext>
                  </a:extLst>
                </a:gridCol>
                <a:gridCol w="2701636">
                  <a:extLst>
                    <a:ext uri="{9D8B030D-6E8A-4147-A177-3AD203B41FA5}">
                      <a16:colId xmlns:a16="http://schemas.microsoft.com/office/drawing/2014/main" val="4239032692"/>
                    </a:ext>
                  </a:extLst>
                </a:gridCol>
                <a:gridCol w="825595">
                  <a:extLst>
                    <a:ext uri="{9D8B030D-6E8A-4147-A177-3AD203B41FA5}">
                      <a16:colId xmlns:a16="http://schemas.microsoft.com/office/drawing/2014/main" val="1762771331"/>
                    </a:ext>
                  </a:extLst>
                </a:gridCol>
                <a:gridCol w="883710">
                  <a:extLst>
                    <a:ext uri="{9D8B030D-6E8A-4147-A177-3AD203B41FA5}">
                      <a16:colId xmlns:a16="http://schemas.microsoft.com/office/drawing/2014/main" val="812004660"/>
                    </a:ext>
                  </a:extLst>
                </a:gridCol>
                <a:gridCol w="829328">
                  <a:extLst>
                    <a:ext uri="{9D8B030D-6E8A-4147-A177-3AD203B41FA5}">
                      <a16:colId xmlns:a16="http://schemas.microsoft.com/office/drawing/2014/main" val="1979612868"/>
                    </a:ext>
                  </a:extLst>
                </a:gridCol>
                <a:gridCol w="802137">
                  <a:extLst>
                    <a:ext uri="{9D8B030D-6E8A-4147-A177-3AD203B41FA5}">
                      <a16:colId xmlns:a16="http://schemas.microsoft.com/office/drawing/2014/main" val="1242604342"/>
                    </a:ext>
                  </a:extLst>
                </a:gridCol>
                <a:gridCol w="720563">
                  <a:extLst>
                    <a:ext uri="{9D8B030D-6E8A-4147-A177-3AD203B41FA5}">
                      <a16:colId xmlns:a16="http://schemas.microsoft.com/office/drawing/2014/main" val="3133633840"/>
                    </a:ext>
                  </a:extLst>
                </a:gridCol>
                <a:gridCol w="720563">
                  <a:extLst>
                    <a:ext uri="{9D8B030D-6E8A-4147-A177-3AD203B41FA5}">
                      <a16:colId xmlns:a16="http://schemas.microsoft.com/office/drawing/2014/main" val="679978181"/>
                    </a:ext>
                  </a:extLst>
                </a:gridCol>
                <a:gridCol w="842923">
                  <a:extLst>
                    <a:ext uri="{9D8B030D-6E8A-4147-A177-3AD203B41FA5}">
                      <a16:colId xmlns:a16="http://schemas.microsoft.com/office/drawing/2014/main" val="2617173688"/>
                    </a:ext>
                  </a:extLst>
                </a:gridCol>
                <a:gridCol w="883710">
                  <a:extLst>
                    <a:ext uri="{9D8B030D-6E8A-4147-A177-3AD203B41FA5}">
                      <a16:colId xmlns:a16="http://schemas.microsoft.com/office/drawing/2014/main" val="1933157894"/>
                    </a:ext>
                  </a:extLst>
                </a:gridCol>
                <a:gridCol w="1291579">
                  <a:extLst>
                    <a:ext uri="{9D8B030D-6E8A-4147-A177-3AD203B41FA5}">
                      <a16:colId xmlns:a16="http://schemas.microsoft.com/office/drawing/2014/main" val="912914995"/>
                    </a:ext>
                  </a:extLst>
                </a:gridCol>
              </a:tblGrid>
              <a:tr h="24735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п/п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исполнения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 отзыва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Пояснения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958356"/>
                  </a:ext>
                </a:extLst>
              </a:tr>
              <a:tr h="49020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ФБ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57530"/>
                  </a:ext>
                </a:extLst>
              </a:tr>
              <a:tr h="24735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947520"/>
                  </a:ext>
                </a:extLst>
              </a:tr>
              <a:tr h="24735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ТУРИЗМ (Минтранс)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7,6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6,4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96,1%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472602"/>
                  </a:ext>
                </a:extLst>
              </a:tr>
              <a:tr h="917248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Пешеходный мост через р.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Тьмака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г.Твери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Тверской области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6,4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96,1%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экономия по факту выполненных работ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535719"/>
                  </a:ext>
                </a:extLst>
              </a:tr>
              <a:tr h="49245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ФИЗИЧЕСКАЯ КУЛЬТУРА И СПОРТ (Минстрой)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12,7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5,5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5,2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10,7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84,3%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09980"/>
                  </a:ext>
                </a:extLst>
              </a:tr>
              <a:tr h="1963076">
                <a:tc>
                  <a:txBody>
                    <a:bodyPr/>
                    <a:lstStyle/>
                    <a:p>
                      <a:pPr algn="ctr" fontAlgn="t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</a:t>
                      </a: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Региональный спортивно-тренировочный центр стрелковых видов спорта «Березино» по адресу: Тверская область, Калининский район, </a:t>
                      </a:r>
                      <a:r>
                        <a:rPr lang="ru-RU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Бурашевское</a:t>
                      </a:r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с/п, д. Березино" (1 этап)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5,5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5,2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10,7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84,3%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экономия по факту выполненных работ 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6" marR="2236" marT="223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976837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9363560" y="6425108"/>
            <a:ext cx="2743200" cy="365125"/>
          </a:xfrm>
        </p:spPr>
        <p:txBody>
          <a:bodyPr/>
          <a:lstStyle/>
          <a:p>
            <a:fld id="{FA0E902D-E5D9-4990-A5FF-8599B2B31D15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10937873" y="1151851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 руб.</a:t>
            </a: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49859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69703"/>
              </p:ext>
            </p:extLst>
          </p:nvPr>
        </p:nvGraphicFramePr>
        <p:xfrm>
          <a:off x="947344" y="1329394"/>
          <a:ext cx="11073017" cy="5075050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441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4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1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4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5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61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8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09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82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89642">
                  <a:extLst>
                    <a:ext uri="{9D8B030D-6E8A-4147-A177-3AD203B41FA5}">
                      <a16:colId xmlns:a16="http://schemas.microsoft.com/office/drawing/2014/main" val="2147936535"/>
                    </a:ext>
                  </a:extLst>
                </a:gridCol>
              </a:tblGrid>
              <a:tr h="357831"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</a:t>
                      </a:r>
                    </a:p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пп</a:t>
                      </a: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</a:t>
                      </a:r>
                    </a:p>
                  </a:txBody>
                  <a:tcPr marL="0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Исполнено</a:t>
                      </a:r>
                    </a:p>
                  </a:txBody>
                  <a:tcPr marL="0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% испол-нения</a:t>
                      </a: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Риски по средствам ФБ</a:t>
                      </a:r>
                    </a:p>
                  </a:txBody>
                  <a:tcPr marL="0" marR="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Примечание</a:t>
                      </a: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596561"/>
                  </a:ext>
                </a:extLst>
              </a:tr>
              <a:tr h="417414"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всего 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всего 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261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09423"/>
                  </a:ext>
                </a:extLst>
              </a:tr>
              <a:tr h="34017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8">
                  <a:txBody>
                    <a:bodyPr/>
                    <a:lstStyle/>
                    <a:p>
                      <a:pPr marL="36000" marR="0" lvl="0" indent="0" algn="l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ВСЕГО </a:t>
                      </a:r>
                      <a:endParaRPr lang="ru-RU" sz="1800" b="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802" marR="54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20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1 117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00" marR="18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36000" marR="0" lvl="0" indent="0" algn="l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Минздрав Тверской области</a:t>
                      </a:r>
                    </a:p>
                  </a:txBody>
                  <a:tcPr marL="53802" marR="54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/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/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477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00" marR="18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0150"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marR="0" lvl="1" indent="0" algn="l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модернизация лабораторий 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медорганизаций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00" marR="7200" marT="5398" marB="5398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0 %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Не подготовлены техзадания, контракты не заключены, закупки не размещены</a:t>
                      </a:r>
                    </a:p>
                  </a:txBody>
                  <a:tcPr marL="7200" marR="18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694"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1.2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marR="0" lvl="1" indent="0" algn="l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переоснащение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онкодиспансера</a:t>
                      </a:r>
                      <a:endParaRPr lang="ru-RU" sz="18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00" marR="7200" marT="5398" marB="5398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566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566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397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397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70 %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" marR="18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189"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marR="0" lvl="1" indent="0" algn="l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ЕГИСЗ</a:t>
                      </a:r>
                    </a:p>
                  </a:txBody>
                  <a:tcPr marL="7200" marR="7200" marT="5398" marB="5398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144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148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%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" marR="18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010622"/>
                  </a:ext>
                </a:extLst>
              </a:tr>
              <a:tr h="550694"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1.4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marR="0" lvl="1" indent="0" algn="l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развитие паллиативной помощи</a:t>
                      </a:r>
                    </a:p>
                  </a:txBody>
                  <a:tcPr marL="7200" marR="7200" marT="5398" marB="5398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14 %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" marR="18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79589"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marR="0" lvl="1" indent="0" algn="l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Трансферты Фонду ОМС Тверской области на доп. финансовое обеспечение</a:t>
                      </a:r>
                    </a:p>
                  </a:txBody>
                  <a:tcPr marL="7200" marR="7200" marT="5398" marB="5398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562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562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317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317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56 %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245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обращение в Правительство</a:t>
                      </a:r>
                      <a:r>
                        <a:rPr lang="ru-RU" sz="18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РФ об использовании средств на оплату счетов 2019 г.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" marR="18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580" name="TextBox 1"/>
          <p:cNvSpPr txBox="1">
            <a:spLocks noChangeArrowheads="1"/>
          </p:cNvSpPr>
          <p:nvPr/>
        </p:nvSpPr>
        <p:spPr bwMode="auto">
          <a:xfrm>
            <a:off x="10962956" y="782181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 руб.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9262086" y="6492875"/>
            <a:ext cx="2846916" cy="365125"/>
          </a:xfrm>
        </p:spPr>
        <p:txBody>
          <a:bodyPr/>
          <a:lstStyle/>
          <a:p>
            <a:pPr>
              <a:defRPr/>
            </a:pPr>
            <a:fld id="{0915096C-1EF5-4776-B666-80E383B749FA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18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9" name="Прямоугольник 18"/>
          <p:cNvSpPr>
            <a:spLocks noChangeArrowheads="1"/>
          </p:cNvSpPr>
          <p:nvPr/>
        </p:nvSpPr>
        <p:spPr bwMode="auto">
          <a:xfrm>
            <a:off x="1227438" y="178622"/>
            <a:ext cx="1081182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III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. ИСПОЛНЕНИЕ ПО СРЕДСТВАМ ФЕДЕРАЛЬНОГО БЮДЖЕТА, </a:t>
            </a:r>
          </a:p>
          <a:p>
            <a:pPr algn="ctr" eaLnBrk="1" hangingPunct="1"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НЕ ВКЛЮЧЕННЫМ В АИП, ИМЕЮЩИМ РИСКИ ИСПОЛНЕНИЯ</a:t>
            </a:r>
            <a:endParaRPr lang="en-US" altLang="ru-RU" sz="2000" b="1" dirty="0">
              <a:solidFill>
                <a:srgbClr val="CCAF0A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2536285" y="2475877"/>
            <a:ext cx="180000" cy="180000"/>
          </a:xfrm>
          <a:prstGeom prst="ellipse">
            <a:avLst/>
          </a:prstGeom>
          <a:solidFill>
            <a:srgbClr val="B809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412864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96730"/>
              </p:ext>
            </p:extLst>
          </p:nvPr>
        </p:nvGraphicFramePr>
        <p:xfrm>
          <a:off x="947344" y="1275913"/>
          <a:ext cx="11073017" cy="5139614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441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4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1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4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5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61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8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09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82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89642">
                  <a:extLst>
                    <a:ext uri="{9D8B030D-6E8A-4147-A177-3AD203B41FA5}">
                      <a16:colId xmlns:a16="http://schemas.microsoft.com/office/drawing/2014/main" val="2147936535"/>
                    </a:ext>
                  </a:extLst>
                </a:gridCol>
              </a:tblGrid>
              <a:tr h="390868"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</a:t>
                      </a:r>
                    </a:p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пп</a:t>
                      </a:r>
                      <a:endParaRPr lang="ru-RU" sz="17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</a:t>
                      </a:r>
                    </a:p>
                  </a:txBody>
                  <a:tcPr marL="0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Исполнено</a:t>
                      </a:r>
                    </a:p>
                  </a:txBody>
                  <a:tcPr marL="0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% испол-нения</a:t>
                      </a:r>
                      <a:endParaRPr lang="ru-RU" sz="17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Риски по средствам ФБ</a:t>
                      </a:r>
                    </a:p>
                  </a:txBody>
                  <a:tcPr marL="0" marR="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Примечание</a:t>
                      </a: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596561"/>
                  </a:ext>
                </a:extLst>
              </a:tr>
              <a:tr h="206846"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всего 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всего 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4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09423"/>
                  </a:ext>
                </a:extLst>
              </a:tr>
              <a:tr h="17509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72000" algn="l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Минстрой Тверской области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328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73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algn="l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капитальный ремонт </a:t>
                      </a:r>
                    </a:p>
                    <a:p>
                      <a:pPr marL="108000" algn="l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3-х ЦРБ 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(Ржевская, </a:t>
                      </a:r>
                      <a:r>
                        <a:rPr lang="ru-RU" sz="1800" b="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Осташковская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800" b="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Конаковская</a:t>
                      </a:r>
                      <a:r>
                        <a:rPr lang="ru-RU" sz="1800" b="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130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145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0 %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130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контракты не заключены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21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algn="l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переселение из аварийного жилого фонда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76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517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593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8 %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198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контракты не заключены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444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36000" marR="0" lvl="0" indent="0" algn="l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Минобразования Тверской области</a:t>
                      </a:r>
                    </a:p>
                  </a:txBody>
                  <a:tcPr marL="53802" marR="54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163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00" marR="18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526"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3.1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marR="0" lvl="1" indent="0" algn="l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внедрение цифровой образовательной среды </a:t>
                      </a:r>
                      <a:r>
                        <a:rPr lang="ru-RU" sz="1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(оборудование)</a:t>
                      </a:r>
                    </a:p>
                  </a:txBody>
                  <a:tcPr marL="7200" marR="7200" marT="5398" marB="5398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343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354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0,2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0" i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163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гос. контракт 2020 г. расторгнут, вопрос находится на рассмотрении </a:t>
                      </a:r>
                    </a:p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 Мировом суде;</a:t>
                      </a:r>
                    </a:p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контракты за счет средств 2021 года заключены</a:t>
                      </a:r>
                    </a:p>
                  </a:txBody>
                  <a:tcPr marL="7200" marR="18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580" name="TextBox 1"/>
          <p:cNvSpPr txBox="1">
            <a:spLocks noChangeArrowheads="1"/>
          </p:cNvSpPr>
          <p:nvPr/>
        </p:nvSpPr>
        <p:spPr bwMode="auto">
          <a:xfrm>
            <a:off x="11015026" y="862366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 руб.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9269835" y="6415527"/>
            <a:ext cx="2846916" cy="365125"/>
          </a:xfrm>
        </p:spPr>
        <p:txBody>
          <a:bodyPr/>
          <a:lstStyle/>
          <a:p>
            <a:pPr>
              <a:defRPr/>
            </a:pPr>
            <a:fld id="{0915096C-1EF5-4776-B666-80E383B749FA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9" name="Прямоугольник 18"/>
          <p:cNvSpPr>
            <a:spLocks noChangeArrowheads="1"/>
          </p:cNvSpPr>
          <p:nvPr/>
        </p:nvSpPr>
        <p:spPr bwMode="auto">
          <a:xfrm>
            <a:off x="1227438" y="223158"/>
            <a:ext cx="1081182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III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. ИСПОЛНЕНИЕ ПО СРЕДСТВАМ ФЕДЕРАЛЬНОГО БЮДЖЕТА, </a:t>
            </a:r>
          </a:p>
          <a:p>
            <a:pPr algn="ctr"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НЕ ВКЛЮЧЕННЫМ В АИП, ИМЕЮЩИМ РИСКИ ИСПОЛНЕНИЯ (продолжение)</a:t>
            </a:r>
            <a:endParaRPr lang="en-US" altLang="ru-RU" sz="2000" b="1" dirty="0">
              <a:solidFill>
                <a:srgbClr val="CCAF0A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790373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27430"/>
              </p:ext>
            </p:extLst>
          </p:nvPr>
        </p:nvGraphicFramePr>
        <p:xfrm>
          <a:off x="947344" y="1151141"/>
          <a:ext cx="11073017" cy="5399240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441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4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1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4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5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61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8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09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82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89642">
                  <a:extLst>
                    <a:ext uri="{9D8B030D-6E8A-4147-A177-3AD203B41FA5}">
                      <a16:colId xmlns:a16="http://schemas.microsoft.com/office/drawing/2014/main" val="2147936535"/>
                    </a:ext>
                  </a:extLst>
                </a:gridCol>
              </a:tblGrid>
              <a:tr h="405347"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</a:t>
                      </a:r>
                    </a:p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пп</a:t>
                      </a:r>
                      <a:endParaRPr lang="ru-RU" sz="17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</a:t>
                      </a:r>
                    </a:p>
                  </a:txBody>
                  <a:tcPr marL="0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Исполнено</a:t>
                      </a:r>
                    </a:p>
                  </a:txBody>
                  <a:tcPr marL="0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% испол-нения</a:t>
                      </a:r>
                      <a:endParaRPr lang="ru-RU" sz="17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Риски по средствам ФБ</a:t>
                      </a:r>
                    </a:p>
                  </a:txBody>
                  <a:tcPr marL="0" marR="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Примечание</a:t>
                      </a:r>
                    </a:p>
                  </a:txBody>
                  <a:tcPr marL="0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596561"/>
                  </a:ext>
                </a:extLst>
              </a:tr>
              <a:tr h="472842"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всего 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ФБ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7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всего </a:t>
                      </a:r>
                    </a:p>
                  </a:txBody>
                  <a:tcPr marL="5399" marR="5399" marT="26771" marB="26771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9" marR="539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3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09423"/>
                  </a:ext>
                </a:extLst>
              </a:tr>
              <a:tr h="333335"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72000" marR="0" lvl="1" indent="0" algn="l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Минсоцзащиты Тверской области</a:t>
                      </a:r>
                    </a:p>
                  </a:txBody>
                  <a:tcPr marL="7200" marR="7200" marT="5398" marB="5398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0" i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/>
                </a:tc>
                <a:tc hMerge="1"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0" i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/>
                </a:tc>
                <a:tc hMerge="1"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/>
                </a:tc>
                <a:tc hMerge="1"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0" i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/>
                </a:tc>
                <a:tc hMerge="1"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0" i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/>
                </a:tc>
                <a:tc hMerge="1"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i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/>
                </a:tc>
                <a:tc hMerge="1"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0" i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36000" marT="26907" marB="26907" anchor="ctr"/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83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i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" marR="18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727"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1" indent="0" algn="l" defTabSz="80996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оказание социальной помощи на основании</a:t>
                      </a:r>
                      <a:r>
                        <a:rPr lang="ru-RU" sz="18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социального контракта</a:t>
                      </a:r>
                      <a:endParaRPr lang="ru-RU" sz="18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00" marR="7200" marT="5398" marB="5398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marL="0" marR="36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221</a:t>
                      </a:r>
                    </a:p>
                  </a:txBody>
                  <a:tcPr marL="0" marR="36000" marT="26907" marB="26907" anchor="ctr"/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263</a:t>
                      </a:r>
                    </a:p>
                  </a:txBody>
                  <a:tcPr marL="0" marR="36000" marT="26907" marB="26907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36000" marT="26907" marB="26907" anchor="ctr"/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0" marR="36000" marT="26907" marB="26907" anchor="ctr"/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0" marR="36000" marT="26907" marB="26907" anchor="ctr"/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11 %</a:t>
                      </a:r>
                    </a:p>
                  </a:txBody>
                  <a:tcPr marL="0" marR="36000" marT="26907" marB="26907" anchor="ctr"/>
                </a:tc>
                <a:tc>
                  <a:txBody>
                    <a:bodyPr/>
                    <a:lstStyle/>
                    <a:p>
                      <a:pPr marL="0" algn="r" defTabSz="607470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83</a:t>
                      </a:r>
                    </a:p>
                  </a:txBody>
                  <a:tcPr marL="0" marR="36000" marT="26907" marB="26907" anchor="ctr"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747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реализация мероприятия с мая 2021 года, </a:t>
                      </a: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невысокий уровень спроса населения по отдельным направлениям </a:t>
                      </a:r>
                      <a:r>
                        <a:rPr lang="ru-RU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соцконтракта</a:t>
                      </a:r>
                      <a:endParaRPr lang="ru-RU" sz="1800" b="0" i="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" marR="18000" marT="26907" marB="26907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3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72000" algn="l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Минсельхоз Тверской области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66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3198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</a:t>
                      </a:r>
                    </a:p>
                  </a:txBody>
                  <a:tcPr marL="53815" marR="53815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8000" algn="l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стимулирование развития приоритетных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подотраслей</a:t>
                      </a:r>
                      <a:r>
                        <a:rPr lang="ru-RU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АПК и развитие малых форм хозяйствования</a:t>
                      </a:r>
                      <a:endParaRPr lang="ru-RU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0747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114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136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26 %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66</a:t>
                      </a:r>
                    </a:p>
                  </a:txBody>
                  <a:tcPr marL="6329" marR="36000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не утверждены порядки предоставления субсидий по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грантовой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поддержке семейных ферм и  сельскохозяйственных потребительских кооперативов на развитие мат.-тех. базы </a:t>
                      </a:r>
                    </a:p>
                  </a:txBody>
                  <a:tcPr marL="6329" marR="6329" marT="5400" marB="540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580" name="TextBox 1"/>
          <p:cNvSpPr txBox="1">
            <a:spLocks noChangeArrowheads="1"/>
          </p:cNvSpPr>
          <p:nvPr/>
        </p:nvSpPr>
        <p:spPr bwMode="auto">
          <a:xfrm>
            <a:off x="10918636" y="784662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 руб.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9269836" y="6448784"/>
            <a:ext cx="2846916" cy="365125"/>
          </a:xfrm>
        </p:spPr>
        <p:txBody>
          <a:bodyPr/>
          <a:lstStyle/>
          <a:p>
            <a:pPr>
              <a:defRPr/>
            </a:pPr>
            <a:fld id="{0915096C-1EF5-4776-B666-80E383B749FA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20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  <p:sp>
        <p:nvSpPr>
          <p:cNvPr id="9" name="Прямоугольник 18"/>
          <p:cNvSpPr>
            <a:spLocks noChangeArrowheads="1"/>
          </p:cNvSpPr>
          <p:nvPr/>
        </p:nvSpPr>
        <p:spPr bwMode="auto">
          <a:xfrm>
            <a:off x="1227438" y="223158"/>
            <a:ext cx="1081182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III</a:t>
            </a: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. ИСПОЛНЕНИЕ ПО СРЕДСТВАМ ФЕДЕРАЛЬНОГО БЮДЖЕТА, </a:t>
            </a:r>
          </a:p>
          <a:p>
            <a:pPr algn="ctr">
              <a:defRPr/>
            </a:pPr>
            <a:r>
              <a:rPr lang="ru-RU" altLang="ru-RU" sz="2000" b="1" dirty="0">
                <a:solidFill>
                  <a:srgbClr val="CCAF0A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НЕ ВКЛЮЧЕННЫМ В АИП, ИМЕЮЩИМ РИСКИ ИСПОЛНЕНИЯ (продолжение)</a:t>
            </a:r>
            <a:endParaRPr lang="en-US" altLang="ru-RU" sz="2000" b="1" dirty="0">
              <a:solidFill>
                <a:srgbClr val="CCAF0A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149399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Box 5"/>
          <p:cNvSpPr txBox="1">
            <a:spLocks noChangeArrowheads="1"/>
          </p:cNvSpPr>
          <p:nvPr/>
        </p:nvSpPr>
        <p:spPr bwMode="auto">
          <a:xfrm>
            <a:off x="1048723" y="4278123"/>
            <a:ext cx="7780891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defRPr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Правительство Тверской области</a:t>
            </a:r>
          </a:p>
          <a:p>
            <a:pPr algn="just">
              <a:spcBef>
                <a:spcPct val="0"/>
              </a:spcBef>
              <a:buClrTx/>
              <a:buSzTx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площадь Святого Благоверного Князя Михаила Тверского, </a:t>
            </a:r>
          </a:p>
          <a:p>
            <a:pPr algn="just">
              <a:spcBef>
                <a:spcPct val="0"/>
              </a:spcBef>
              <a:buClrTx/>
              <a:buSzTx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д. 1,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Тверь, 170100, тел. (4822) 34-20-73, факс 35-69-65</a:t>
            </a:r>
          </a:p>
          <a:p>
            <a:pPr algn="just">
              <a:spcBef>
                <a:spcPct val="0"/>
              </a:spcBef>
              <a:buClrTx/>
              <a:buSzTx/>
              <a:defRPr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minfin@tverreg.ru</a:t>
            </a: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defRPr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Заместитель Председателя Правительства Тверской области – </a:t>
            </a:r>
          </a:p>
          <a:p>
            <a:pPr algn="just">
              <a:spcBef>
                <a:spcPct val="0"/>
              </a:spcBef>
              <a:buClrTx/>
              <a:buSzTx/>
              <a:defRPr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Министр финансов Тверской области, </a:t>
            </a:r>
          </a:p>
          <a:p>
            <a:pPr algn="just">
              <a:spcBef>
                <a:spcPct val="0"/>
              </a:spcBef>
              <a:buClrTx/>
              <a:buSzTx/>
              <a:defRPr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М.И. Подтихова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9120336" y="6381328"/>
            <a:ext cx="2846916" cy="365125"/>
          </a:xfrm>
        </p:spPr>
        <p:txBody>
          <a:bodyPr/>
          <a:lstStyle/>
          <a:p>
            <a:fld id="{10D39A79-4589-4D27-993D-910FD70E3DFD}" type="slidenum">
              <a:rPr lang="ru-RU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1"/>
          <p:cNvPicPr>
            <a:picLocks noChangeAspect="1" noChangeArrowheads="1"/>
          </p:cNvPicPr>
          <p:nvPr/>
        </p:nvPicPr>
        <p:blipFill>
          <a:blip r:embed="rId3">
            <a:lum contrast="12000"/>
          </a:blip>
          <a:srcRect l="5005"/>
          <a:stretch>
            <a:fillRect/>
          </a:stretch>
        </p:blipFill>
        <p:spPr bwMode="auto">
          <a:xfrm>
            <a:off x="191344" y="125154"/>
            <a:ext cx="756000" cy="9384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746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45888</TotalTime>
  <Words>2890</Words>
  <Application>Microsoft Office PowerPoint</Application>
  <PresentationFormat>Широкоэкранный</PresentationFormat>
  <Paragraphs>971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Шульгина Елена Анатольевна</dc:creator>
  <cp:lastModifiedBy>Подтихова Марина Ивановна</cp:lastModifiedBy>
  <cp:revision>4085</cp:revision>
  <cp:lastPrinted>2021-09-13T16:32:40Z</cp:lastPrinted>
  <dcterms:created xsi:type="dcterms:W3CDTF">2020-05-07T16:01:18Z</dcterms:created>
  <dcterms:modified xsi:type="dcterms:W3CDTF">2021-09-16T19:02:58Z</dcterms:modified>
</cp:coreProperties>
</file>